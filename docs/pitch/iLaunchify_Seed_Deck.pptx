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iLaunchify is the production orchestration layer for creator-led CPG. We let influencers and small DTC brand owners launch real supplement, functional food, or pet products without finding their own manufacturer, printer, co-packer, or warehouse — we decompose every order into a multi-partner workflow graph and hide the complexity. The platform is built — four Next.js apps, around 590 shipped tasks, FDA-aware compliance scanning, Stripe Connect end-to-end — and we are raising a seed round to run a structured beta and reach GA. This deck walks through the problem, the architectural moat we locked early, monetization, the beta plan, and the ask.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creator-led CPG wave is real and accelerating. Mr Beast launched Feastables, Logan Paul launched Prime, Emma Chamberlain launched coffee, Kim K launched Skims. Those are the headlines. The much larger opportunity is the cohort below them — 50K to 2M follower creators with real channel revenue and a brand-able audience, who today still can't actually ship a CPG product without a 12 to 18 month odyssey of finding and validating a contract manufacturer, sourcing a label printer separately, lining up a co-packer that handles their format, negotiating a warehouse partner, managing FDA labeling on their own, and stitching together a checkout. Most of them give up. The few who succeed are the ones with operator co-founders or agency money behind them. That gap is the wedge.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didn't build this because the problem is new — it's been around since the first influencer launched a protein powder. We built it now because three structural conditions changed simultaneously in the last 24 months. First, audience-economy creators finally have the monetization fluency and capital — TikTok Shop, Shopify, paid memberships — to be real CPG buyers. Second, the post-2024 contract manufacturing landscape has consolidated capacity that's hungry for branded small-batch work but has no clean acquisition channel for it. Third, modern Fabric.js-grade browser canvas plus AI-tuned compliance scanning crossed the line where a non-expert can actually produce print-ready FDA-compliant CPG packaging. Any one of these isn't enough. The three together support a platform — and we're the first one designed for the intersection.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Mechanically, iLaunchify is four layers. A Design Studio — a Fabric.js packaging canvas with a live FDA compliance scan, brand asset library, and print-ready PDF export. A Marketplace — 13 locked product categories with 121 subcategories of manufacturer-built templates filtered by format, region, capability, and certification. The Orchestration layer — every order decomposes into a multi-partner workflow graph across manufacturer, label printer, co-packer, warehouse, and the creator's own Shopify or TikTok Shop. And the money-and-manifest layer — Stripe Connect multi-party payouts, payment held until every partner approves, manifest versioned and audit-logged. V1 ships Mode 1 direct routing. V2 ships pooled production across creators and a buffer inventory layer — that's where the real moat lives, and that's what scales the unit economics.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flow is three steps for the creator. Step one — they browse the marketplace and pick a template, say a 12-pack kombucha or a 60-count capsule supplement. Every template is pre-validated by a real manufacturer with their actual MOQ, lead time, and price ladder. Step two — they customize in the Design Studio. Recipe, label, packaging surfaces. The FDA compliance scan runs live as they design and tells them in real time when their font is too small or they're missing an allergen line. Brand assets pre-fill from their library, and they export a print-ready PDF. Step three — we orchestrate. The order auto-routes across manufacturer, printer, co-packer, and warehouse. The creator sees one unified timeline. The finished inventory lands in their Shopify or TikTok Shop. Behind that simple flow we hold payment until every partner has approved the manifest, version-lock the artifacts, and write to a central audit log on every state transition. That's the product. Replace the placeholders with three real screenshots before sending.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structural defensibilities. First — the 4-layer marketplace taxonomy. Eight creator niches, 13 product categories, a manufacturing format axis, 30 lifestyle tags. Every layer is orthogonal and intentional. You can copy the database schema, you can't copy the taste-discrimination behind it — that took deep CPG plus creator-economy fluency to lock. Second — the 5-layer partner verification. A 10-state activation FSM that walks every partner through identity, business legitimacy, capability, commercial terms, and operational standards verification before they can accept a single order. This is operational defensibility, not technical. Code is cheap; supply of verified, trustworthy manufacturing partners is the actual scarce resource. Third — the orchestration graph in V2. Once partner capacity pools across orders and we add a buffer inventory layer, every new creator improves partner economics and every new partner shortens creator lead times. That's a real two-sided network effect, gated by working capital — the long-term moat.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revenue lines, all locked in PLATFORM_SPEC. First — creator subscription. Maker is free with unlimited products and a 15% platform fee per order. Builder runs $49 to $99 a month with a 12% fee and unlocks AI design and Subscribe and Save. Agency runs $199 to $299 a month with a 9% fee, bulk pricing visibility, and Premier partner access — sales-touched. Annual plans give roughly two months free. Second — marketplace commission on the partner side: 15, 12, or 8 percent of partner payouts depending on partner tier (Verified, Trusted, Premier). Third — Subscribe and Save: when a consumer reorders on the creator's channel via our recurring production loop, we capture the recurring production subscription. The schema and Stripe wiring are already built. Three independent revenue lines means the platform is not single-point-of-failure dependent on subscription, fee, or commission alone.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didn't take outside money to build the platform — we built it on our own. We are running the beta with our own capital. We are raising to scale what works. The beta is structured: 5 to 8 creators, 4 to 6 partners, 90 days, founder-led white glove, platform fee waived for participants. Hard success criteria are falsifiable, not vibes — at least 4 end-to-end shipments through real channels, at least 3 of the 8 creators complete the full loop, partner accept-rate at or above 80%, on-time shipment at or above 75%, and no more than 2 quality disputes. If we hit those, the next fundraise pitch becomes 'we orchestrated this much real production GMV with this many partners at this on-time rate and this many creators reordered,' which is a categorically different conversation from where most seed-stage marketplaces start. The de-risk is real.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Market sizing — honest. The US CPG market is roughly 730 billion dollars (FMI and IRI 2024 baseline). That's the TAM. Our serviceable available market is the creator-led slice of US CPG within the V1 categories — supplements, functional food and beverage, and pet — which is a much smaller and faster-growing sub-segment. The 5-year SOM is the production-orchestration revenue we capture on the creator-led CPG GMV that runs through iLaunchify, at a blended take rate that combines subscription, platform fee, and marketplace commission — historically around 18 percent. Pavel: I left the SAM and SOM numbers as placeholders because I want defensible public sources behind them — SignalFire's creator economy report, Statista, NielsenIQ — rather than something I made up. Fill those in from real public sources before sending. The TAM line is solid.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proof point that matters to a seed investor — velocity. In roughly six months of focused work, one founder shipped four Next.js applications, around 590 tracked tasks, 100+ Prisma models on a CockroachDB Serverless backend, and 24 production migrations. Inside that we shipped a Fabric.js packaging Design Studio with a live FDA compliance scan, full Stripe Connect multi-party payouts on both sides, a 5-layer partner onboarding with a 10-state activation FSM, a multi-partner approval workflow with manifest versioning, the marketplace taxonomy with deterministic niche auto-suggestion, and lawyer-ready legal documents. The architecture is locked, the gotchas are gotcha'd, and the team-of-one velocity is what compounds when we hire. The next dollar gets a lot of leverage.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Honesty up front — I am the only person on the team today. That's why the architectural moat slide matters: the foundation is locked correctly, so the people I hire with this round are not going to spend their first 6 months refactoring my code; they're going to compound on it. The stack is mainstream and boring on purpose: Next.js 15, React 19, strict TypeScript, CockroachDB Serverless via Prisma, Stripe Connect, Cloudflare R2, Fabric.js, Auth.js v5, Resend. Nothing exotic, nothing that requires hiring rare specialists. Hiring plan in the first six months — one senior product engineer to own velocity on the surface area I built, one partner operations manager with CPG manufacturing relationships and the skin-deep familiarity to onboard partners faster than I can, and one product or brand designer. Pavel: replace the [BIO PLACEHOLDER] line with your actual short bio before sending.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ask. We are raising a seed round of [Pavel — set the actual number; suggested $2.0M as a reasonable mid-anchor for this stage, typical band is $1M–$3M]. Allocation: 50% engineering — two senior hires plus production infrastructure hardening; 25% partner network expansion across the four service types in the top three US markets, founder-led on the ground; 15% creator acquisition and brand work; 10% legal, compliance counsel, and admin overhead. Milestones over 18 months: by month 3 the beta closes with documented transaction data and first case studies; by month 6 we are at GA with 50 active creators and 20 active partners; by month 12 we are at $[VERIFY]M annualized GMV across the platform; by month 18 we begin the transition from Mode 1 direct routing to Mode 2 pooled production — the moat features go live. Set the dollar amount and the M12 GMV target to your actual numbers. The conversation we want is the follow-on diligence call. My email is on the slide.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11480" cy="6858000"/>
          </a:xfrm>
          <a:prstGeom prst="rect">
            <a:avLst/>
          </a:prstGeom>
          <a:solidFill>
            <a:srgbClr val="FF2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14400" y="804672"/>
            <a:ext cx="164592" cy="164592"/>
          </a:xfrm>
          <a:prstGeom prst="ellipse">
            <a:avLst/>
          </a:prstGeom>
          <a:solidFill>
            <a:srgbClr val="FF2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70432" y="640080"/>
            <a:ext cx="2286000" cy="457200"/>
          </a:xfrm>
          <a:prstGeom prst="rect">
            <a:avLst/>
          </a:prstGeom>
          <a:noFill/>
        </p:spPr>
        <p:txBody>
          <a:bodyPr wrap="square" lIns="0" rIns="0" tIns="0" bIns="0" anchor="t">
            <a:spAutoFit/>
          </a:bodyPr>
          <a:lstStyle/>
          <a:p>
            <a:pPr algn="l">
              <a:lnSpc>
                <a:spcPct val="115000"/>
              </a:lnSpc>
            </a:pPr>
            <a:r>
              <a:rPr sz="2000" b="1" i="0">
                <a:solidFill>
                  <a:srgbClr val="0A0A0A"/>
                </a:solidFill>
                <a:latin typeface="Bricolage Grotesque"/>
              </a:rPr>
              <a:t>iLaunchify</a:t>
            </a:r>
          </a:p>
        </p:txBody>
      </p:sp>
      <p:sp>
        <p:nvSpPr>
          <p:cNvPr id="6" name="Rounded Rectangle 5"/>
          <p:cNvSpPr/>
          <p:nvPr/>
        </p:nvSpPr>
        <p:spPr>
          <a:xfrm>
            <a:off x="9692640" y="777240"/>
            <a:ext cx="1737360" cy="384048"/>
          </a:xfrm>
          <a:prstGeom prst="roundRect">
            <a:avLst>
              <a:gd name="adj" fmla="val 50000"/>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rIns="164592" tIns="36576" bIns="36576" wrap="none"/>
          <a:lstStyle/>
          <a:p>
            <a:pPr algn="ctr"/>
            <a:r>
              <a:rPr sz="1000" b="1">
                <a:solidFill>
                  <a:srgbClr val="FFFFFF"/>
                </a:solidFill>
                <a:latin typeface="Inter"/>
              </a:rPr>
              <a:t>SEED ROUND · 2026</a:t>
            </a:r>
          </a:p>
        </p:txBody>
      </p:sp>
      <p:sp>
        <p:nvSpPr>
          <p:cNvPr id="7" name="TextBox 6"/>
          <p:cNvSpPr txBox="1"/>
          <p:nvPr/>
        </p:nvSpPr>
        <p:spPr>
          <a:xfrm>
            <a:off x="914400" y="1874519"/>
            <a:ext cx="10332720" cy="2743200"/>
          </a:xfrm>
          <a:prstGeom prst="rect">
            <a:avLst/>
          </a:prstGeom>
          <a:noFill/>
        </p:spPr>
        <p:txBody>
          <a:bodyPr wrap="square" lIns="0" rIns="0" tIns="0" bIns="0" anchor="t">
            <a:spAutoFit/>
          </a:bodyPr>
          <a:lstStyle/>
          <a:p>
            <a:pPr algn="l">
              <a:lnSpc>
                <a:spcPct val="105000"/>
              </a:lnSpc>
            </a:pPr>
            <a:r>
              <a:rPr sz="5400" b="1" i="0">
                <a:solidFill>
                  <a:srgbClr val="0A0A0A"/>
                </a:solidFill>
                <a:latin typeface="Bricolage Grotesque"/>
              </a:rPr>
              <a:t>Production orchestration</a:t>
            </a:r>
          </a:p>
          <a:p>
            <a:pPr algn="l">
              <a:lnSpc>
                <a:spcPct val="105000"/>
              </a:lnSpc>
            </a:pPr>
            <a:r>
              <a:rPr sz="5400" b="1" i="0">
                <a:solidFill>
                  <a:srgbClr val="0A0A0A"/>
                </a:solidFill>
                <a:latin typeface="Bricolage Grotesque"/>
              </a:rPr>
              <a:t>for the next generation</a:t>
            </a:r>
          </a:p>
          <a:p>
            <a:pPr algn="l">
              <a:lnSpc>
                <a:spcPct val="105000"/>
              </a:lnSpc>
            </a:pPr>
            <a:r>
              <a:rPr sz="5400" b="1" i="0">
                <a:solidFill>
                  <a:srgbClr val="0A0A0A"/>
                </a:solidFill>
                <a:latin typeface="Bricolage Grotesque"/>
              </a:rPr>
              <a:t>of CPG creators.</a:t>
            </a:r>
          </a:p>
        </p:txBody>
      </p:sp>
      <p:sp>
        <p:nvSpPr>
          <p:cNvPr id="8" name="TextBox 7"/>
          <p:cNvSpPr txBox="1"/>
          <p:nvPr/>
        </p:nvSpPr>
        <p:spPr>
          <a:xfrm>
            <a:off x="914400" y="4572000"/>
            <a:ext cx="10332720" cy="731520"/>
          </a:xfrm>
          <a:prstGeom prst="rect">
            <a:avLst/>
          </a:prstGeom>
          <a:noFill/>
        </p:spPr>
        <p:txBody>
          <a:bodyPr wrap="square" lIns="0" rIns="0" tIns="0" bIns="0" anchor="t">
            <a:spAutoFit/>
          </a:bodyPr>
          <a:lstStyle/>
          <a:p>
            <a:pPr algn="l">
              <a:lnSpc>
                <a:spcPct val="120000"/>
              </a:lnSpc>
            </a:pPr>
            <a:r>
              <a:rPr sz="1800" b="0" i="0">
                <a:solidFill>
                  <a:srgbClr val="2B2B2B"/>
                </a:solidFill>
                <a:latin typeface="Inter"/>
              </a:rPr>
              <a:t>iLaunchify lets creators ship their own CPG brand </a:t>
            </a:r>
            <a:r>
              <a:rPr sz="1800" b="0" i="1">
                <a:solidFill>
                  <a:srgbClr val="2B2B2B"/>
                </a:solidFill>
                <a:latin typeface="Fraunces"/>
              </a:rPr>
              <a:t>without </a:t>
            </a:r>
            <a:r>
              <a:rPr sz="1800" b="0" i="0">
                <a:solidFill>
                  <a:srgbClr val="2B2B2B"/>
                </a:solidFill>
                <a:latin typeface="Inter"/>
              </a:rPr>
              <a:t>owning a factory.</a:t>
            </a:r>
          </a:p>
        </p:txBody>
      </p:sp>
      <p:sp>
        <p:nvSpPr>
          <p:cNvPr id="9" name="TextBox 8"/>
          <p:cNvSpPr txBox="1"/>
          <p:nvPr/>
        </p:nvSpPr>
        <p:spPr>
          <a:xfrm>
            <a:off x="914400" y="5806440"/>
            <a:ext cx="6400800" cy="274320"/>
          </a:xfrm>
          <a:prstGeom prst="rect">
            <a:avLst/>
          </a:prstGeom>
          <a:noFill/>
        </p:spPr>
        <p:txBody>
          <a:bodyPr wrap="square" lIns="0" rIns="0" tIns="0" bIns="0" anchor="t">
            <a:spAutoFit/>
          </a:bodyPr>
          <a:lstStyle/>
          <a:p>
            <a:pPr algn="l">
              <a:lnSpc>
                <a:spcPct val="115000"/>
              </a:lnSpc>
            </a:pPr>
            <a:r>
              <a:rPr sz="1300" b="1" i="0">
                <a:solidFill>
                  <a:srgbClr val="0A0A0A"/>
                </a:solidFill>
                <a:latin typeface="Inter"/>
              </a:rPr>
              <a:t>Pavel Georgiev · Founder &amp; CEO</a:t>
            </a:r>
          </a:p>
        </p:txBody>
      </p:sp>
      <p:sp>
        <p:nvSpPr>
          <p:cNvPr id="10" name="TextBox 9"/>
          <p:cNvSpPr txBox="1"/>
          <p:nvPr/>
        </p:nvSpPr>
        <p:spPr>
          <a:xfrm>
            <a:off x="914400" y="6126480"/>
            <a:ext cx="6400800" cy="274320"/>
          </a:xfrm>
          <a:prstGeom prst="rect">
            <a:avLst/>
          </a:prstGeom>
          <a:noFill/>
        </p:spPr>
        <p:txBody>
          <a:bodyPr wrap="square" lIns="0" rIns="0" tIns="0" bIns="0" anchor="t">
            <a:spAutoFit/>
          </a:bodyPr>
          <a:lstStyle/>
          <a:p>
            <a:pPr algn="l">
              <a:lnSpc>
                <a:spcPct val="115000"/>
              </a:lnSpc>
            </a:pPr>
            <a:r>
              <a:rPr sz="1100" b="0" i="0">
                <a:solidFill>
                  <a:srgbClr val="6B6B6B"/>
                </a:solidFill>
                <a:latin typeface="Inter"/>
              </a:rPr>
              <a:t>georgiev.pavel@gmail.com · June 2026</a:t>
            </a:r>
          </a:p>
        </p:txBody>
      </p:sp>
      <p:sp>
        <p:nvSpPr>
          <p:cNvPr id="11" name="Rounded Rectangle 10"/>
          <p:cNvSpPr/>
          <p:nvPr/>
        </p:nvSpPr>
        <p:spPr>
          <a:xfrm>
            <a:off x="10424160" y="5806440"/>
            <a:ext cx="1371600" cy="594360"/>
          </a:xfrm>
          <a:prstGeom prst="roundRect">
            <a:avLst/>
          </a:prstGeom>
          <a:solidFill>
            <a:srgbClr val="B5FF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0" y="5852160"/>
            <a:ext cx="1371600" cy="548640"/>
          </a:xfrm>
          <a:prstGeom prst="rect">
            <a:avLst/>
          </a:prstGeom>
          <a:noFill/>
        </p:spPr>
        <p:txBody>
          <a:bodyPr wrap="square" lIns="0" rIns="0" tIns="0" bIns="0" anchor="ctr">
            <a:spAutoFit/>
          </a:bodyPr>
          <a:lstStyle/>
          <a:p>
            <a:pPr algn="ctr">
              <a:lnSpc>
                <a:spcPct val="115000"/>
              </a:lnSpc>
            </a:pPr>
            <a:r>
              <a:rPr sz="1000" b="1" i="0">
                <a:solidFill>
                  <a:srgbClr val="0A0A0A"/>
                </a:solidFill>
                <a:latin typeface="Inter"/>
              </a:rPr>
              <a:t>v1 built.</a:t>
            </a:r>
          </a:p>
          <a:p>
            <a:pPr algn="ctr">
              <a:lnSpc>
                <a:spcPct val="115000"/>
              </a:lnSpc>
            </a:pPr>
            <a:r>
              <a:rPr sz="1000" b="1" i="0">
                <a:solidFill>
                  <a:srgbClr val="0A0A0A"/>
                </a:solidFill>
                <a:latin typeface="Inter"/>
              </a:rPr>
              <a:t>beta next.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640080" y="621792"/>
            <a:ext cx="164592" cy="164592"/>
          </a:xfrm>
          <a:prstGeom prst="ellipse">
            <a:avLst/>
          </a:prstGeom>
          <a:solidFill>
            <a:srgbClr val="FF2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96112" y="457200"/>
            <a:ext cx="2286000" cy="457200"/>
          </a:xfrm>
          <a:prstGeom prst="rect">
            <a:avLst/>
          </a:prstGeom>
          <a:noFill/>
        </p:spPr>
        <p:txBody>
          <a:bodyPr wrap="square" lIns="0" rIns="0" tIns="0" bIns="0" anchor="t">
            <a:spAutoFit/>
          </a:bodyPr>
          <a:lstStyle/>
          <a:p>
            <a:pPr algn="l">
              <a:lnSpc>
                <a:spcPct val="115000"/>
              </a:lnSpc>
            </a:pPr>
            <a:r>
              <a:rPr sz="2000" b="1" i="0">
                <a:solidFill>
                  <a:srgbClr val="0A0A0A"/>
                </a:solidFill>
                <a:latin typeface="Bricolage Grotesque"/>
              </a:rPr>
              <a:t>iLaunchify</a:t>
            </a:r>
          </a:p>
        </p:txBody>
      </p:sp>
      <p:sp>
        <p:nvSpPr>
          <p:cNvPr id="5" name="Rounded Rectangle 4"/>
          <p:cNvSpPr/>
          <p:nvPr/>
        </p:nvSpPr>
        <p:spPr>
          <a:xfrm>
            <a:off x="640080" y="1097280"/>
            <a:ext cx="1188720" cy="329184"/>
          </a:xfrm>
          <a:prstGeom prst="roundRect">
            <a:avLst>
              <a:gd name="adj" fmla="val 50000"/>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rIns="164592" tIns="36576" bIns="36576" wrap="none"/>
          <a:lstStyle/>
          <a:p>
            <a:pPr algn="ctr"/>
            <a:r>
              <a:rPr sz="1000" b="1">
                <a:solidFill>
                  <a:srgbClr val="FFFFFF"/>
                </a:solidFill>
                <a:latin typeface="Inter"/>
              </a:rPr>
              <a:t>01 · PROBLEM</a:t>
            </a:r>
          </a:p>
        </p:txBody>
      </p:sp>
      <p:sp>
        <p:nvSpPr>
          <p:cNvPr id="6" name="TextBox 5"/>
          <p:cNvSpPr txBox="1"/>
          <p:nvPr/>
        </p:nvSpPr>
        <p:spPr>
          <a:xfrm>
            <a:off x="640080" y="1600200"/>
            <a:ext cx="10972800" cy="1554480"/>
          </a:xfrm>
          <a:prstGeom prst="rect">
            <a:avLst/>
          </a:prstGeom>
          <a:noFill/>
        </p:spPr>
        <p:txBody>
          <a:bodyPr wrap="square" lIns="0" rIns="0" tIns="0" bIns="0" anchor="t">
            <a:spAutoFit/>
          </a:bodyPr>
          <a:lstStyle/>
          <a:p>
            <a:pPr algn="l">
              <a:lnSpc>
                <a:spcPct val="105000"/>
              </a:lnSpc>
            </a:pPr>
            <a:r>
              <a:rPr sz="3600" b="1" i="0">
                <a:solidFill>
                  <a:srgbClr val="0A0A0A"/>
                </a:solidFill>
                <a:latin typeface="Bricolage Grotesque"/>
              </a:rPr>
              <a:t>The CPG creator wave is real.</a:t>
            </a:r>
          </a:p>
          <a:p>
            <a:pPr algn="l">
              <a:lnSpc>
                <a:spcPct val="105000"/>
              </a:lnSpc>
            </a:pPr>
            <a:r>
              <a:rPr sz="3600" b="1" i="0">
                <a:solidFill>
                  <a:srgbClr val="0A0A0A"/>
                </a:solidFill>
                <a:latin typeface="Bricolage Grotesque"/>
              </a:rPr>
              <a:t>The production stack is broken.</a:t>
            </a:r>
          </a:p>
        </p:txBody>
      </p:sp>
      <p:sp>
        <p:nvSpPr>
          <p:cNvPr id="7" name="TextBox 6"/>
          <p:cNvSpPr txBox="1"/>
          <p:nvPr/>
        </p:nvSpPr>
        <p:spPr>
          <a:xfrm>
            <a:off x="640080" y="3246120"/>
            <a:ext cx="5120640" cy="365760"/>
          </a:xfrm>
          <a:prstGeom prst="rect">
            <a:avLst/>
          </a:prstGeom>
          <a:noFill/>
        </p:spPr>
        <p:txBody>
          <a:bodyPr wrap="square" lIns="0" rIns="0" tIns="0" bIns="0" anchor="t">
            <a:spAutoFit/>
          </a:bodyPr>
          <a:lstStyle/>
          <a:p>
            <a:pPr algn="l">
              <a:lnSpc>
                <a:spcPct val="115000"/>
              </a:lnSpc>
            </a:pPr>
            <a:r>
              <a:rPr sz="1200" b="1" i="0">
                <a:solidFill>
                  <a:srgbClr val="FF2E63"/>
                </a:solidFill>
                <a:latin typeface="Bricolage Grotesque"/>
              </a:rPr>
              <a:t>The headline names — and the long tail</a:t>
            </a:r>
          </a:p>
        </p:txBody>
      </p:sp>
      <p:sp>
        <p:nvSpPr>
          <p:cNvPr id="8" name="TextBox 7"/>
          <p:cNvSpPr txBox="1"/>
          <p:nvPr/>
        </p:nvSpPr>
        <p:spPr>
          <a:xfrm>
            <a:off x="640080" y="3611880"/>
            <a:ext cx="5303520" cy="1005840"/>
          </a:xfrm>
          <a:prstGeom prst="rect">
            <a:avLst/>
          </a:prstGeom>
          <a:noFill/>
        </p:spPr>
        <p:txBody>
          <a:bodyPr wrap="square" lIns="0" rIns="0" tIns="0" bIns="0" anchor="t">
            <a:spAutoFit/>
          </a:bodyPr>
          <a:lstStyle/>
          <a:p>
            <a:pPr algn="l">
              <a:lnSpc>
                <a:spcPct val="135000"/>
              </a:lnSpc>
            </a:pPr>
            <a:r>
              <a:rPr sz="1400" b="0" i="0">
                <a:solidFill>
                  <a:srgbClr val="2B2B2B"/>
                </a:solidFill>
                <a:latin typeface="Inter"/>
              </a:rPr>
              <a:t>Mr Beast Feastables. Logan Paul Prime.</a:t>
            </a:r>
          </a:p>
          <a:p>
            <a:pPr algn="l">
              <a:lnSpc>
                <a:spcPct val="135000"/>
              </a:lnSpc>
            </a:pPr>
            <a:r>
              <a:rPr sz="1400" b="0" i="0">
                <a:solidFill>
                  <a:srgbClr val="2B2B2B"/>
                </a:solidFill>
                <a:latin typeface="Inter"/>
              </a:rPr>
              <a:t>Emma Chamberlain Coffee. Kim Kardashian Skims.</a:t>
            </a:r>
          </a:p>
        </p:txBody>
      </p:sp>
      <p:sp>
        <p:nvSpPr>
          <p:cNvPr id="9" name="TextBox 8"/>
          <p:cNvSpPr txBox="1"/>
          <p:nvPr/>
        </p:nvSpPr>
        <p:spPr>
          <a:xfrm>
            <a:off x="640080" y="4617720"/>
            <a:ext cx="5303520" cy="1645920"/>
          </a:xfrm>
          <a:prstGeom prst="rect">
            <a:avLst/>
          </a:prstGeom>
          <a:noFill/>
        </p:spPr>
        <p:txBody>
          <a:bodyPr wrap="square" lIns="0" rIns="0" tIns="0" bIns="0" anchor="t">
            <a:spAutoFit/>
          </a:bodyPr>
          <a:lstStyle/>
          <a:p>
            <a:pPr algn="l">
              <a:lnSpc>
                <a:spcPct val="135000"/>
              </a:lnSpc>
            </a:pPr>
            <a:r>
              <a:rPr sz="1300" b="0" i="0">
                <a:solidFill>
                  <a:srgbClr val="2B2B2B"/>
                </a:solidFill>
                <a:latin typeface="Inter"/>
              </a:rPr>
              <a:t>Below them sits a much larger cohort:</a:t>
            </a:r>
          </a:p>
          <a:p>
            <a:pPr algn="l">
              <a:lnSpc>
                <a:spcPct val="135000"/>
              </a:lnSpc>
            </a:pPr>
            <a:r>
              <a:rPr sz="1300" b="0" i="0">
                <a:solidFill>
                  <a:srgbClr val="2B2B2B"/>
                </a:solidFill>
                <a:latin typeface="Inter"/>
              </a:rPr>
              <a:t>creators with 50K–2M followers, real channel</a:t>
            </a:r>
          </a:p>
          <a:p>
            <a:pPr algn="l">
              <a:lnSpc>
                <a:spcPct val="135000"/>
              </a:lnSpc>
            </a:pPr>
            <a:r>
              <a:rPr sz="1300" b="0" i="0">
                <a:solidFill>
                  <a:srgbClr val="2B2B2B"/>
                </a:solidFill>
                <a:latin typeface="Inter"/>
              </a:rPr>
              <a:t>revenue, and a brand-able audience — and no</a:t>
            </a:r>
          </a:p>
          <a:p>
            <a:pPr algn="l">
              <a:lnSpc>
                <a:spcPct val="135000"/>
              </a:lnSpc>
            </a:pPr>
            <a:r>
              <a:rPr sz="1300" b="0" i="0">
                <a:solidFill>
                  <a:srgbClr val="2B2B2B"/>
                </a:solidFill>
                <a:latin typeface="Inter"/>
              </a:rPr>
              <a:t>way to actually ship a CPG product.</a:t>
            </a:r>
          </a:p>
        </p:txBody>
      </p:sp>
      <p:sp>
        <p:nvSpPr>
          <p:cNvPr id="10" name="Rounded Rectangle 9"/>
          <p:cNvSpPr/>
          <p:nvPr/>
        </p:nvSpPr>
        <p:spPr>
          <a:xfrm>
            <a:off x="6355080" y="3108960"/>
            <a:ext cx="5212080" cy="3200400"/>
          </a:xfrm>
          <a:prstGeom prst="roundRect">
            <a:avLst/>
          </a:prstGeom>
          <a:solidFill>
            <a:srgbClr val="F3E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0" y="3246120"/>
            <a:ext cx="4754880" cy="365760"/>
          </a:xfrm>
          <a:prstGeom prst="rect">
            <a:avLst/>
          </a:prstGeom>
          <a:noFill/>
        </p:spPr>
        <p:txBody>
          <a:bodyPr wrap="square" lIns="0" rIns="0" tIns="0" bIns="0" anchor="t">
            <a:spAutoFit/>
          </a:bodyPr>
          <a:lstStyle/>
          <a:p>
            <a:pPr algn="l">
              <a:lnSpc>
                <a:spcPct val="115000"/>
              </a:lnSpc>
            </a:pPr>
            <a:r>
              <a:rPr sz="1200" b="1" i="0">
                <a:solidFill>
                  <a:srgbClr val="0A0A0A"/>
                </a:solidFill>
                <a:latin typeface="Bricolage Grotesque"/>
              </a:rPr>
              <a:t>Today, launching means…</a:t>
            </a:r>
          </a:p>
        </p:txBody>
      </p:sp>
      <p:sp>
        <p:nvSpPr>
          <p:cNvPr id="12" name="Oval 11"/>
          <p:cNvSpPr/>
          <p:nvPr/>
        </p:nvSpPr>
        <p:spPr>
          <a:xfrm>
            <a:off x="6583680" y="3730752"/>
            <a:ext cx="109728" cy="109728"/>
          </a:xfrm>
          <a:prstGeom prst="ellipse">
            <a:avLst/>
          </a:prstGeom>
          <a:solidFill>
            <a:srgbClr val="FF2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12280" y="3611880"/>
            <a:ext cx="4572000" cy="320040"/>
          </a:xfrm>
          <a:prstGeom prst="rect">
            <a:avLst/>
          </a:prstGeom>
          <a:noFill/>
        </p:spPr>
        <p:txBody>
          <a:bodyPr wrap="square" lIns="0" rIns="0" tIns="0" bIns="0" anchor="t">
            <a:spAutoFit/>
          </a:bodyPr>
          <a:lstStyle/>
          <a:p>
            <a:pPr algn="l">
              <a:lnSpc>
                <a:spcPct val="115000"/>
              </a:lnSpc>
            </a:pPr>
            <a:r>
              <a:rPr sz="1200" b="0" i="0">
                <a:solidFill>
                  <a:srgbClr val="2B2B2B"/>
                </a:solidFill>
                <a:latin typeface="Inter"/>
              </a:rPr>
              <a:t>Hunt and validate a contract manufacturer</a:t>
            </a:r>
          </a:p>
        </p:txBody>
      </p:sp>
      <p:sp>
        <p:nvSpPr>
          <p:cNvPr id="14" name="Oval 13"/>
          <p:cNvSpPr/>
          <p:nvPr/>
        </p:nvSpPr>
        <p:spPr>
          <a:xfrm>
            <a:off x="6583680" y="4114800"/>
            <a:ext cx="109728" cy="109728"/>
          </a:xfrm>
          <a:prstGeom prst="ellipse">
            <a:avLst/>
          </a:prstGeom>
          <a:solidFill>
            <a:srgbClr val="FF2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12280" y="3995928"/>
            <a:ext cx="4572000" cy="320040"/>
          </a:xfrm>
          <a:prstGeom prst="rect">
            <a:avLst/>
          </a:prstGeom>
          <a:noFill/>
        </p:spPr>
        <p:txBody>
          <a:bodyPr wrap="square" lIns="0" rIns="0" tIns="0" bIns="0" anchor="t">
            <a:spAutoFit/>
          </a:bodyPr>
          <a:lstStyle/>
          <a:p>
            <a:pPr algn="l">
              <a:lnSpc>
                <a:spcPct val="115000"/>
              </a:lnSpc>
            </a:pPr>
            <a:r>
              <a:rPr sz="1200" b="0" i="0">
                <a:solidFill>
                  <a:srgbClr val="2B2B2B"/>
                </a:solidFill>
                <a:latin typeface="Inter"/>
              </a:rPr>
              <a:t>Source a label printer separately</a:t>
            </a:r>
          </a:p>
        </p:txBody>
      </p:sp>
      <p:sp>
        <p:nvSpPr>
          <p:cNvPr id="16" name="Oval 15"/>
          <p:cNvSpPr/>
          <p:nvPr/>
        </p:nvSpPr>
        <p:spPr>
          <a:xfrm>
            <a:off x="6583680" y="4498848"/>
            <a:ext cx="109728" cy="109728"/>
          </a:xfrm>
          <a:prstGeom prst="ellipse">
            <a:avLst/>
          </a:prstGeom>
          <a:solidFill>
            <a:srgbClr val="FF2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12280" y="4379976"/>
            <a:ext cx="4572000" cy="320040"/>
          </a:xfrm>
          <a:prstGeom prst="rect">
            <a:avLst/>
          </a:prstGeom>
          <a:noFill/>
        </p:spPr>
        <p:txBody>
          <a:bodyPr wrap="square" lIns="0" rIns="0" tIns="0" bIns="0" anchor="t">
            <a:spAutoFit/>
          </a:bodyPr>
          <a:lstStyle/>
          <a:p>
            <a:pPr algn="l">
              <a:lnSpc>
                <a:spcPct val="115000"/>
              </a:lnSpc>
            </a:pPr>
            <a:r>
              <a:rPr sz="1200" b="0" i="0">
                <a:solidFill>
                  <a:srgbClr val="2B2B2B"/>
                </a:solidFill>
                <a:latin typeface="Inter"/>
              </a:rPr>
              <a:t>Find a co-packer that handles your format</a:t>
            </a:r>
          </a:p>
        </p:txBody>
      </p:sp>
      <p:sp>
        <p:nvSpPr>
          <p:cNvPr id="18" name="Oval 17"/>
          <p:cNvSpPr/>
          <p:nvPr/>
        </p:nvSpPr>
        <p:spPr>
          <a:xfrm>
            <a:off x="6583680" y="4882896"/>
            <a:ext cx="109728" cy="109728"/>
          </a:xfrm>
          <a:prstGeom prst="ellipse">
            <a:avLst/>
          </a:prstGeom>
          <a:solidFill>
            <a:srgbClr val="FF2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12280" y="4764024"/>
            <a:ext cx="4572000" cy="320040"/>
          </a:xfrm>
          <a:prstGeom prst="rect">
            <a:avLst/>
          </a:prstGeom>
          <a:noFill/>
        </p:spPr>
        <p:txBody>
          <a:bodyPr wrap="square" lIns="0" rIns="0" tIns="0" bIns="0" anchor="t">
            <a:spAutoFit/>
          </a:bodyPr>
          <a:lstStyle/>
          <a:p>
            <a:pPr algn="l">
              <a:lnSpc>
                <a:spcPct val="115000"/>
              </a:lnSpc>
            </a:pPr>
            <a:r>
              <a:rPr sz="1200" b="0" i="0">
                <a:solidFill>
                  <a:srgbClr val="2B2B2B"/>
                </a:solidFill>
                <a:latin typeface="Inter"/>
              </a:rPr>
              <a:t>Negotiate a warehouse + fulfillment partner</a:t>
            </a:r>
          </a:p>
        </p:txBody>
      </p:sp>
      <p:sp>
        <p:nvSpPr>
          <p:cNvPr id="20" name="Oval 19"/>
          <p:cNvSpPr/>
          <p:nvPr/>
        </p:nvSpPr>
        <p:spPr>
          <a:xfrm>
            <a:off x="6583680" y="5266944"/>
            <a:ext cx="109728" cy="109728"/>
          </a:xfrm>
          <a:prstGeom prst="ellipse">
            <a:avLst/>
          </a:prstGeom>
          <a:solidFill>
            <a:srgbClr val="FF2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12280" y="5148072"/>
            <a:ext cx="4572000" cy="320040"/>
          </a:xfrm>
          <a:prstGeom prst="rect">
            <a:avLst/>
          </a:prstGeom>
          <a:noFill/>
        </p:spPr>
        <p:txBody>
          <a:bodyPr wrap="square" lIns="0" rIns="0" tIns="0" bIns="0" anchor="t">
            <a:spAutoFit/>
          </a:bodyPr>
          <a:lstStyle/>
          <a:p>
            <a:pPr algn="l">
              <a:lnSpc>
                <a:spcPct val="115000"/>
              </a:lnSpc>
            </a:pPr>
            <a:r>
              <a:rPr sz="1200" b="0" i="0">
                <a:solidFill>
                  <a:srgbClr val="2B2B2B"/>
                </a:solidFill>
                <a:latin typeface="Inter"/>
              </a:rPr>
              <a:t>Manage FDA labeling compliance yourself</a:t>
            </a:r>
          </a:p>
        </p:txBody>
      </p:sp>
      <p:sp>
        <p:nvSpPr>
          <p:cNvPr id="22" name="Oval 21"/>
          <p:cNvSpPr/>
          <p:nvPr/>
        </p:nvSpPr>
        <p:spPr>
          <a:xfrm>
            <a:off x="6583680" y="5650992"/>
            <a:ext cx="109728" cy="109728"/>
          </a:xfrm>
          <a:prstGeom prst="ellipse">
            <a:avLst/>
          </a:prstGeom>
          <a:solidFill>
            <a:srgbClr val="FF2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12280" y="5532120"/>
            <a:ext cx="4572000" cy="320040"/>
          </a:xfrm>
          <a:prstGeom prst="rect">
            <a:avLst/>
          </a:prstGeom>
          <a:noFill/>
        </p:spPr>
        <p:txBody>
          <a:bodyPr wrap="square" lIns="0" rIns="0" tIns="0" bIns="0" anchor="t">
            <a:spAutoFit/>
          </a:bodyPr>
          <a:lstStyle/>
          <a:p>
            <a:pPr algn="l">
              <a:lnSpc>
                <a:spcPct val="115000"/>
              </a:lnSpc>
            </a:pPr>
            <a:r>
              <a:rPr sz="1200" b="0" i="0">
                <a:solidFill>
                  <a:srgbClr val="2B2B2B"/>
                </a:solidFill>
                <a:latin typeface="Inter"/>
              </a:rPr>
              <a:t>Hand-stitch a checkout that ties it all together</a:t>
            </a:r>
          </a:p>
        </p:txBody>
      </p:sp>
      <p:sp>
        <p:nvSpPr>
          <p:cNvPr id="24" name="Rounded Rectangle 23"/>
          <p:cNvSpPr/>
          <p:nvPr/>
        </p:nvSpPr>
        <p:spPr>
          <a:xfrm>
            <a:off x="640080" y="5989320"/>
            <a:ext cx="5303520" cy="502920"/>
          </a:xfrm>
          <a:prstGeom prst="round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68680" y="6053328"/>
            <a:ext cx="5029200" cy="365760"/>
          </a:xfrm>
          <a:prstGeom prst="rect">
            <a:avLst/>
          </a:prstGeom>
          <a:noFill/>
        </p:spPr>
        <p:txBody>
          <a:bodyPr wrap="square" lIns="0" rIns="0" tIns="0" bIns="0" anchor="t">
            <a:spAutoFit/>
          </a:bodyPr>
          <a:lstStyle/>
          <a:p>
            <a:pPr algn="l">
              <a:lnSpc>
                <a:spcPct val="120000"/>
              </a:lnSpc>
            </a:pPr>
            <a:r>
              <a:rPr sz="1400" b="1" i="0">
                <a:solidFill>
                  <a:srgbClr val="B5FF3D"/>
                </a:solidFill>
                <a:latin typeface="Bricolage Grotesque"/>
              </a:rPr>
              <a:t>12–18 months </a:t>
            </a:r>
            <a:r>
              <a:rPr sz="1300" b="0" i="0">
                <a:solidFill>
                  <a:srgbClr val="FFFFFF"/>
                </a:solidFill>
                <a:latin typeface="Inter"/>
              </a:rPr>
              <a:t>to launch — or the creator gives up.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640080" y="621792"/>
            <a:ext cx="164592" cy="164592"/>
          </a:xfrm>
          <a:prstGeom prst="ellipse">
            <a:avLst/>
          </a:prstGeom>
          <a:solidFill>
            <a:srgbClr val="FF2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96112" y="457200"/>
            <a:ext cx="2286000" cy="457200"/>
          </a:xfrm>
          <a:prstGeom prst="rect">
            <a:avLst/>
          </a:prstGeom>
          <a:noFill/>
        </p:spPr>
        <p:txBody>
          <a:bodyPr wrap="square" lIns="0" rIns="0" tIns="0" bIns="0" anchor="t">
            <a:spAutoFit/>
          </a:bodyPr>
          <a:lstStyle/>
          <a:p>
            <a:pPr algn="l">
              <a:lnSpc>
                <a:spcPct val="115000"/>
              </a:lnSpc>
            </a:pPr>
            <a:r>
              <a:rPr sz="2000" b="1" i="0">
                <a:solidFill>
                  <a:srgbClr val="0A0A0A"/>
                </a:solidFill>
                <a:latin typeface="Bricolage Grotesque"/>
              </a:rPr>
              <a:t>iLaunchify</a:t>
            </a:r>
          </a:p>
        </p:txBody>
      </p:sp>
      <p:sp>
        <p:nvSpPr>
          <p:cNvPr id="5" name="Rounded Rectangle 4"/>
          <p:cNvSpPr/>
          <p:nvPr/>
        </p:nvSpPr>
        <p:spPr>
          <a:xfrm>
            <a:off x="640080" y="1097280"/>
            <a:ext cx="1188720" cy="329184"/>
          </a:xfrm>
          <a:prstGeom prst="roundRect">
            <a:avLst>
              <a:gd name="adj" fmla="val 50000"/>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rIns="164592" tIns="36576" bIns="36576" wrap="none"/>
          <a:lstStyle/>
          <a:p>
            <a:pPr algn="ctr"/>
            <a:r>
              <a:rPr sz="1000" b="1">
                <a:solidFill>
                  <a:srgbClr val="FFFFFF"/>
                </a:solidFill>
                <a:latin typeface="Inter"/>
              </a:rPr>
              <a:t>02 · INSIGHT</a:t>
            </a:r>
          </a:p>
        </p:txBody>
      </p:sp>
      <p:sp>
        <p:nvSpPr>
          <p:cNvPr id="6" name="TextBox 5"/>
          <p:cNvSpPr txBox="1"/>
          <p:nvPr/>
        </p:nvSpPr>
        <p:spPr>
          <a:xfrm>
            <a:off x="640080" y="1600200"/>
            <a:ext cx="10972800" cy="1554480"/>
          </a:xfrm>
          <a:prstGeom prst="rect">
            <a:avLst/>
          </a:prstGeom>
          <a:noFill/>
        </p:spPr>
        <p:txBody>
          <a:bodyPr wrap="square" lIns="0" rIns="0" tIns="0" bIns="0" anchor="t">
            <a:spAutoFit/>
          </a:bodyPr>
          <a:lstStyle/>
          <a:p>
            <a:pPr algn="l">
              <a:lnSpc>
                <a:spcPct val="105000"/>
              </a:lnSpc>
            </a:pPr>
            <a:r>
              <a:rPr sz="3600" b="1" i="0">
                <a:solidFill>
                  <a:srgbClr val="0A0A0A"/>
                </a:solidFill>
                <a:latin typeface="Bricolage Grotesque"/>
              </a:rPr>
              <a:t>Three forces just crossed</a:t>
            </a:r>
          </a:p>
          <a:p>
            <a:pPr algn="l">
              <a:lnSpc>
                <a:spcPct val="105000"/>
              </a:lnSpc>
            </a:pPr>
            <a:r>
              <a:rPr sz="3600" b="1" i="0">
                <a:solidFill>
                  <a:srgbClr val="0A0A0A"/>
                </a:solidFill>
                <a:latin typeface="Bricolage Grotesque"/>
              </a:rPr>
              <a:t>the line at the same time.</a:t>
            </a:r>
          </a:p>
        </p:txBody>
      </p:sp>
      <p:sp>
        <p:nvSpPr>
          <p:cNvPr id="7" name="Rounded Rectangle 6"/>
          <p:cNvSpPr/>
          <p:nvPr/>
        </p:nvSpPr>
        <p:spPr>
          <a:xfrm>
            <a:off x="640080" y="3246120"/>
            <a:ext cx="3611880" cy="2926080"/>
          </a:xfrm>
          <a:prstGeom prst="roundRect">
            <a:avLst/>
          </a:prstGeom>
          <a:solidFill>
            <a:srgbClr val="FFFFFF"/>
          </a:solidFill>
          <a:ln w="9525">
            <a:solidFill>
              <a:srgbClr val="C9C4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914400" y="3520440"/>
            <a:ext cx="548640" cy="548640"/>
          </a:xfrm>
          <a:prstGeom prst="roundRect">
            <a:avLst/>
          </a:prstGeom>
          <a:solidFill>
            <a:srgbClr val="FF2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520440"/>
            <a:ext cx="548640" cy="548640"/>
          </a:xfrm>
          <a:prstGeom prst="rect">
            <a:avLst/>
          </a:prstGeom>
          <a:noFill/>
        </p:spPr>
        <p:txBody>
          <a:bodyPr wrap="square" lIns="0" rIns="0" tIns="0" bIns="0" anchor="ctr">
            <a:spAutoFit/>
          </a:bodyPr>
          <a:lstStyle/>
          <a:p>
            <a:pPr algn="ctr">
              <a:lnSpc>
                <a:spcPct val="115000"/>
              </a:lnSpc>
            </a:pPr>
            <a:r>
              <a:rPr sz="1400" b="1" i="0">
                <a:solidFill>
                  <a:srgbClr val="FFFFFF"/>
                </a:solidFill>
                <a:latin typeface="Bricolage Grotesque"/>
              </a:rPr>
              <a:t>01</a:t>
            </a:r>
          </a:p>
        </p:txBody>
      </p:sp>
      <p:sp>
        <p:nvSpPr>
          <p:cNvPr id="10" name="TextBox 9"/>
          <p:cNvSpPr txBox="1"/>
          <p:nvPr/>
        </p:nvSpPr>
        <p:spPr>
          <a:xfrm>
            <a:off x="914400" y="4206240"/>
            <a:ext cx="3063240" cy="777240"/>
          </a:xfrm>
          <a:prstGeom prst="rect">
            <a:avLst/>
          </a:prstGeom>
          <a:noFill/>
        </p:spPr>
        <p:txBody>
          <a:bodyPr wrap="square" lIns="0" rIns="0" tIns="0" bIns="0" anchor="t">
            <a:spAutoFit/>
          </a:bodyPr>
          <a:lstStyle/>
          <a:p>
            <a:pPr algn="l">
              <a:lnSpc>
                <a:spcPct val="115000"/>
              </a:lnSpc>
            </a:pPr>
            <a:r>
              <a:rPr sz="1700" b="1" i="0">
                <a:solidFill>
                  <a:srgbClr val="0A0A0A"/>
                </a:solidFill>
                <a:latin typeface="Bricolage Grotesque"/>
              </a:rPr>
              <a:t>Creators have monetization fluency.</a:t>
            </a:r>
          </a:p>
        </p:txBody>
      </p:sp>
      <p:sp>
        <p:nvSpPr>
          <p:cNvPr id="11" name="TextBox 10"/>
          <p:cNvSpPr txBox="1"/>
          <p:nvPr/>
        </p:nvSpPr>
        <p:spPr>
          <a:xfrm>
            <a:off x="914400" y="5029200"/>
            <a:ext cx="3063240" cy="1051560"/>
          </a:xfrm>
          <a:prstGeom prst="rect">
            <a:avLst/>
          </a:prstGeom>
          <a:noFill/>
        </p:spPr>
        <p:txBody>
          <a:bodyPr wrap="square" lIns="0" rIns="0" tIns="0" bIns="0" anchor="t">
            <a:spAutoFit/>
          </a:bodyPr>
          <a:lstStyle/>
          <a:p>
            <a:pPr algn="l">
              <a:lnSpc>
                <a:spcPct val="130000"/>
              </a:lnSpc>
            </a:pPr>
            <a:r>
              <a:rPr sz="1100" b="0" i="0">
                <a:solidFill>
                  <a:srgbClr val="2B2B2B"/>
                </a:solidFill>
                <a:latin typeface="Inter"/>
              </a:rPr>
              <a:t>TikTok Shop, Shopify, and audience-economy capital didn't exist at this scale 24 months ago. The next layer of creators now has both the cash and the operating sophistication to launch a brand.</a:t>
            </a:r>
          </a:p>
        </p:txBody>
      </p:sp>
      <p:sp>
        <p:nvSpPr>
          <p:cNvPr id="12" name="Rounded Rectangle 11"/>
          <p:cNvSpPr/>
          <p:nvPr/>
        </p:nvSpPr>
        <p:spPr>
          <a:xfrm>
            <a:off x="4434840" y="3246120"/>
            <a:ext cx="3611880" cy="2926080"/>
          </a:xfrm>
          <a:prstGeom prst="roundRect">
            <a:avLst/>
          </a:prstGeom>
          <a:solidFill>
            <a:srgbClr val="FFFFFF"/>
          </a:solidFill>
          <a:ln w="9525">
            <a:solidFill>
              <a:srgbClr val="C9C4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709160" y="3520440"/>
            <a:ext cx="548640" cy="548640"/>
          </a:xfrm>
          <a:prstGeom prst="roundRect">
            <a:avLst/>
          </a:prstGeom>
          <a:solidFill>
            <a:srgbClr val="FF2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709160" y="3520440"/>
            <a:ext cx="548640" cy="548640"/>
          </a:xfrm>
          <a:prstGeom prst="rect">
            <a:avLst/>
          </a:prstGeom>
          <a:noFill/>
        </p:spPr>
        <p:txBody>
          <a:bodyPr wrap="square" lIns="0" rIns="0" tIns="0" bIns="0" anchor="ctr">
            <a:spAutoFit/>
          </a:bodyPr>
          <a:lstStyle/>
          <a:p>
            <a:pPr algn="ctr">
              <a:lnSpc>
                <a:spcPct val="115000"/>
              </a:lnSpc>
            </a:pPr>
            <a:r>
              <a:rPr sz="1400" b="1" i="0">
                <a:solidFill>
                  <a:srgbClr val="FFFFFF"/>
                </a:solidFill>
                <a:latin typeface="Bricolage Grotesque"/>
              </a:rPr>
              <a:t>02</a:t>
            </a:r>
          </a:p>
        </p:txBody>
      </p:sp>
      <p:sp>
        <p:nvSpPr>
          <p:cNvPr id="15" name="TextBox 14"/>
          <p:cNvSpPr txBox="1"/>
          <p:nvPr/>
        </p:nvSpPr>
        <p:spPr>
          <a:xfrm>
            <a:off x="4709160" y="4206240"/>
            <a:ext cx="3063240" cy="777240"/>
          </a:xfrm>
          <a:prstGeom prst="rect">
            <a:avLst/>
          </a:prstGeom>
          <a:noFill/>
        </p:spPr>
        <p:txBody>
          <a:bodyPr wrap="square" lIns="0" rIns="0" tIns="0" bIns="0" anchor="t">
            <a:spAutoFit/>
          </a:bodyPr>
          <a:lstStyle/>
          <a:p>
            <a:pPr algn="l">
              <a:lnSpc>
                <a:spcPct val="115000"/>
              </a:lnSpc>
            </a:pPr>
            <a:r>
              <a:rPr sz="1700" b="1" i="0">
                <a:solidFill>
                  <a:srgbClr val="0A0A0A"/>
                </a:solidFill>
                <a:latin typeface="Bricolage Grotesque"/>
              </a:rPr>
              <a:t>CPG capacity has consolidated.</a:t>
            </a:r>
          </a:p>
        </p:txBody>
      </p:sp>
      <p:sp>
        <p:nvSpPr>
          <p:cNvPr id="16" name="TextBox 15"/>
          <p:cNvSpPr txBox="1"/>
          <p:nvPr/>
        </p:nvSpPr>
        <p:spPr>
          <a:xfrm>
            <a:off x="4709160" y="5029200"/>
            <a:ext cx="3063240" cy="1051560"/>
          </a:xfrm>
          <a:prstGeom prst="rect">
            <a:avLst/>
          </a:prstGeom>
          <a:noFill/>
        </p:spPr>
        <p:txBody>
          <a:bodyPr wrap="square" lIns="0" rIns="0" tIns="0" bIns="0" anchor="t">
            <a:spAutoFit/>
          </a:bodyPr>
          <a:lstStyle/>
          <a:p>
            <a:pPr algn="l">
              <a:lnSpc>
                <a:spcPct val="130000"/>
              </a:lnSpc>
            </a:pPr>
            <a:r>
              <a:rPr sz="1100" b="0" i="0">
                <a:solidFill>
                  <a:srgbClr val="2B2B2B"/>
                </a:solidFill>
                <a:latin typeface="Inter"/>
              </a:rPr>
              <a:t>Contract manufacturers exited 2024 with structurally hungry small-batch capacity. They want branded, smaller-run business — they just have no clean way to find creators who match.</a:t>
            </a:r>
          </a:p>
        </p:txBody>
      </p:sp>
      <p:sp>
        <p:nvSpPr>
          <p:cNvPr id="17" name="Rounded Rectangle 16"/>
          <p:cNvSpPr/>
          <p:nvPr/>
        </p:nvSpPr>
        <p:spPr>
          <a:xfrm>
            <a:off x="8229600" y="3246120"/>
            <a:ext cx="3611880" cy="2926080"/>
          </a:xfrm>
          <a:prstGeom prst="roundRect">
            <a:avLst/>
          </a:prstGeom>
          <a:solidFill>
            <a:srgbClr val="FFFFFF"/>
          </a:solidFill>
          <a:ln w="9525">
            <a:solidFill>
              <a:srgbClr val="C9C4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503920" y="3520440"/>
            <a:ext cx="548640" cy="548640"/>
          </a:xfrm>
          <a:prstGeom prst="roundRect">
            <a:avLst/>
          </a:prstGeom>
          <a:solidFill>
            <a:srgbClr val="FF2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3920" y="3520440"/>
            <a:ext cx="548640" cy="548640"/>
          </a:xfrm>
          <a:prstGeom prst="rect">
            <a:avLst/>
          </a:prstGeom>
          <a:noFill/>
        </p:spPr>
        <p:txBody>
          <a:bodyPr wrap="square" lIns="0" rIns="0" tIns="0" bIns="0" anchor="ctr">
            <a:spAutoFit/>
          </a:bodyPr>
          <a:lstStyle/>
          <a:p>
            <a:pPr algn="ctr">
              <a:lnSpc>
                <a:spcPct val="115000"/>
              </a:lnSpc>
            </a:pPr>
            <a:r>
              <a:rPr sz="1400" b="1" i="0">
                <a:solidFill>
                  <a:srgbClr val="FFFFFF"/>
                </a:solidFill>
                <a:latin typeface="Bricolage Grotesque"/>
              </a:rPr>
              <a:t>03</a:t>
            </a:r>
          </a:p>
        </p:txBody>
      </p:sp>
      <p:sp>
        <p:nvSpPr>
          <p:cNvPr id="20" name="TextBox 19"/>
          <p:cNvSpPr txBox="1"/>
          <p:nvPr/>
        </p:nvSpPr>
        <p:spPr>
          <a:xfrm>
            <a:off x="8503920" y="4206240"/>
            <a:ext cx="3063240" cy="777240"/>
          </a:xfrm>
          <a:prstGeom prst="rect">
            <a:avLst/>
          </a:prstGeom>
          <a:noFill/>
        </p:spPr>
        <p:txBody>
          <a:bodyPr wrap="square" lIns="0" rIns="0" tIns="0" bIns="0" anchor="t">
            <a:spAutoFit/>
          </a:bodyPr>
          <a:lstStyle/>
          <a:p>
            <a:pPr algn="l">
              <a:lnSpc>
                <a:spcPct val="115000"/>
              </a:lnSpc>
            </a:pPr>
            <a:r>
              <a:rPr sz="1700" b="1" i="0">
                <a:solidFill>
                  <a:srgbClr val="0A0A0A"/>
                </a:solidFill>
                <a:latin typeface="Bricolage Grotesque"/>
              </a:rPr>
              <a:t>Design + compliance got accessible.</a:t>
            </a:r>
          </a:p>
        </p:txBody>
      </p:sp>
      <p:sp>
        <p:nvSpPr>
          <p:cNvPr id="21" name="TextBox 20"/>
          <p:cNvSpPr txBox="1"/>
          <p:nvPr/>
        </p:nvSpPr>
        <p:spPr>
          <a:xfrm>
            <a:off x="8503920" y="5029200"/>
            <a:ext cx="3063240" cy="1051560"/>
          </a:xfrm>
          <a:prstGeom prst="rect">
            <a:avLst/>
          </a:prstGeom>
          <a:noFill/>
        </p:spPr>
        <p:txBody>
          <a:bodyPr wrap="square" lIns="0" rIns="0" tIns="0" bIns="0" anchor="t">
            <a:spAutoFit/>
          </a:bodyPr>
          <a:lstStyle/>
          <a:p>
            <a:pPr algn="l">
              <a:lnSpc>
                <a:spcPct val="130000"/>
              </a:lnSpc>
            </a:pPr>
            <a:r>
              <a:rPr sz="1100" b="0" i="0">
                <a:solidFill>
                  <a:srgbClr val="2B2B2B"/>
                </a:solidFill>
                <a:latin typeface="Inter"/>
              </a:rPr>
              <a:t>Modern in-browser canvas tooling plus AI-aware FDA scanning crossed the line where a non-expert can produce print-ready, regulated CPG packaging. We could not have built this in 2022.</a:t>
            </a:r>
          </a:p>
        </p:txBody>
      </p:sp>
      <p:sp>
        <p:nvSpPr>
          <p:cNvPr id="22" name="TextBox 21"/>
          <p:cNvSpPr txBox="1"/>
          <p:nvPr/>
        </p:nvSpPr>
        <p:spPr>
          <a:xfrm>
            <a:off x="640080" y="6355080"/>
            <a:ext cx="10972800" cy="365760"/>
          </a:xfrm>
          <a:prstGeom prst="rect">
            <a:avLst/>
          </a:prstGeom>
          <a:noFill/>
        </p:spPr>
        <p:txBody>
          <a:bodyPr wrap="square" lIns="0" rIns="0" tIns="0" bIns="0" anchor="t">
            <a:spAutoFit/>
          </a:bodyPr>
          <a:lstStyle/>
          <a:p>
            <a:pPr algn="l">
              <a:lnSpc>
                <a:spcPct val="120000"/>
              </a:lnSpc>
            </a:pPr>
            <a:r>
              <a:rPr sz="1400" b="0" i="1">
                <a:solidFill>
                  <a:srgbClr val="6B6B6B"/>
                </a:solidFill>
                <a:latin typeface="Fraunces"/>
              </a:rPr>
              <a:t>None of these are sufficient alone. </a:t>
            </a:r>
            <a:r>
              <a:rPr sz="1400" b="1" i="0">
                <a:solidFill>
                  <a:srgbClr val="0A0A0A"/>
                </a:solidFill>
                <a:latin typeface="Inter"/>
              </a:rPr>
              <a:t>All three together support a platform.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640080" y="621792"/>
            <a:ext cx="164592" cy="164592"/>
          </a:xfrm>
          <a:prstGeom prst="ellipse">
            <a:avLst/>
          </a:prstGeom>
          <a:solidFill>
            <a:srgbClr val="B5FF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96112" y="457200"/>
            <a:ext cx="2286000" cy="457200"/>
          </a:xfrm>
          <a:prstGeom prst="rect">
            <a:avLst/>
          </a:prstGeom>
          <a:noFill/>
        </p:spPr>
        <p:txBody>
          <a:bodyPr wrap="square" lIns="0" rIns="0" tIns="0" bIns="0" anchor="t">
            <a:spAutoFit/>
          </a:bodyPr>
          <a:lstStyle/>
          <a:p>
            <a:pPr algn="l">
              <a:lnSpc>
                <a:spcPct val="115000"/>
              </a:lnSpc>
            </a:pPr>
            <a:r>
              <a:rPr sz="2000" b="1" i="0">
                <a:solidFill>
                  <a:srgbClr val="FFFFFF"/>
                </a:solidFill>
                <a:latin typeface="Bricolage Grotesque"/>
              </a:rPr>
              <a:t>iLaunchify</a:t>
            </a:r>
          </a:p>
        </p:txBody>
      </p:sp>
      <p:sp>
        <p:nvSpPr>
          <p:cNvPr id="5" name="Rounded Rectangle 4"/>
          <p:cNvSpPr/>
          <p:nvPr/>
        </p:nvSpPr>
        <p:spPr>
          <a:xfrm>
            <a:off x="640080" y="1097280"/>
            <a:ext cx="1371600" cy="329184"/>
          </a:xfrm>
          <a:prstGeom prst="roundRect">
            <a:avLst>
              <a:gd name="adj" fmla="val 50000"/>
            </a:avLst>
          </a:prstGeom>
          <a:solidFill>
            <a:srgbClr val="B5FF3D"/>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rIns="164592" tIns="36576" bIns="36576" wrap="none"/>
          <a:lstStyle/>
          <a:p>
            <a:pPr algn="ctr"/>
            <a:r>
              <a:rPr sz="1000" b="1">
                <a:solidFill>
                  <a:srgbClr val="0A0A0A"/>
                </a:solidFill>
                <a:latin typeface="Inter"/>
              </a:rPr>
              <a:t>03 · PRODUCT</a:t>
            </a:r>
          </a:p>
        </p:txBody>
      </p:sp>
      <p:sp>
        <p:nvSpPr>
          <p:cNvPr id="6" name="TextBox 5"/>
          <p:cNvSpPr txBox="1"/>
          <p:nvPr/>
        </p:nvSpPr>
        <p:spPr>
          <a:xfrm>
            <a:off x="640080" y="1600200"/>
            <a:ext cx="11155680" cy="1828800"/>
          </a:xfrm>
          <a:prstGeom prst="rect">
            <a:avLst/>
          </a:prstGeom>
          <a:noFill/>
        </p:spPr>
        <p:txBody>
          <a:bodyPr wrap="square" lIns="0" rIns="0" tIns="0" bIns="0" anchor="t">
            <a:spAutoFit/>
          </a:bodyPr>
          <a:lstStyle/>
          <a:p>
            <a:pPr algn="l">
              <a:lnSpc>
                <a:spcPct val="105000"/>
              </a:lnSpc>
            </a:pPr>
            <a:r>
              <a:rPr sz="4000" b="1" i="0">
                <a:solidFill>
                  <a:srgbClr val="FFFFFF"/>
                </a:solidFill>
                <a:latin typeface="Bricolage Grotesque"/>
              </a:rPr>
              <a:t>iLaunchify is the
</a:t>
            </a:r>
            <a:r>
              <a:rPr sz="4000" b="1" i="0">
                <a:solidFill>
                  <a:srgbClr val="B5FF3D"/>
                </a:solidFill>
                <a:latin typeface="Bricolage Grotesque"/>
              </a:rPr>
              <a:t>production orchestration </a:t>
            </a:r>
            <a:r>
              <a:rPr sz="4000" b="1" i="0">
                <a:solidFill>
                  <a:srgbClr val="FFFFFF"/>
                </a:solidFill>
                <a:latin typeface="Bricolage Grotesque"/>
              </a:rPr>
              <a:t>layer.</a:t>
            </a:r>
          </a:p>
        </p:txBody>
      </p:sp>
      <p:sp>
        <p:nvSpPr>
          <p:cNvPr id="7" name="Rounded Rectangle 6"/>
          <p:cNvSpPr/>
          <p:nvPr/>
        </p:nvSpPr>
        <p:spPr>
          <a:xfrm>
            <a:off x="640080" y="3337560"/>
            <a:ext cx="5440680" cy="1280160"/>
          </a:xfrm>
          <a:prstGeom prst="roundRect">
            <a:avLst/>
          </a:prstGeom>
          <a:solidFill>
            <a:srgbClr val="161616"/>
          </a:solidFill>
          <a:ln w="6350">
            <a:solidFill>
              <a:srgbClr val="2A2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502152"/>
            <a:ext cx="4892040" cy="365760"/>
          </a:xfrm>
          <a:prstGeom prst="rect">
            <a:avLst/>
          </a:prstGeom>
          <a:noFill/>
        </p:spPr>
        <p:txBody>
          <a:bodyPr wrap="square" lIns="0" rIns="0" tIns="0" bIns="0" anchor="t">
            <a:spAutoFit/>
          </a:bodyPr>
          <a:lstStyle/>
          <a:p>
            <a:pPr algn="l">
              <a:lnSpc>
                <a:spcPct val="115000"/>
              </a:lnSpc>
            </a:pPr>
            <a:r>
              <a:rPr sz="1600" b="1" i="0">
                <a:solidFill>
                  <a:srgbClr val="B5FF3D"/>
                </a:solidFill>
                <a:latin typeface="Bricolage Grotesque"/>
              </a:rPr>
              <a:t>Design Studio</a:t>
            </a:r>
          </a:p>
        </p:txBody>
      </p:sp>
      <p:sp>
        <p:nvSpPr>
          <p:cNvPr id="9" name="TextBox 8"/>
          <p:cNvSpPr txBox="1"/>
          <p:nvPr/>
        </p:nvSpPr>
        <p:spPr>
          <a:xfrm>
            <a:off x="914400" y="3886200"/>
            <a:ext cx="4892040" cy="713232"/>
          </a:xfrm>
          <a:prstGeom prst="rect">
            <a:avLst/>
          </a:prstGeom>
          <a:noFill/>
        </p:spPr>
        <p:txBody>
          <a:bodyPr wrap="square" lIns="0" rIns="0" tIns="0" bIns="0" anchor="t">
            <a:spAutoFit/>
          </a:bodyPr>
          <a:lstStyle/>
          <a:p>
            <a:pPr algn="l">
              <a:lnSpc>
                <a:spcPct val="130000"/>
              </a:lnSpc>
            </a:pPr>
            <a:r>
              <a:rPr sz="1100" b="0" i="0">
                <a:solidFill>
                  <a:srgbClr val="FFFFFF"/>
                </a:solidFill>
                <a:latin typeface="Inter"/>
              </a:rPr>
              <a:t>Fabric.js packaging canvas. Live FDA-aware compliance scan. Brand asset library that feeds directly into print-ready PDF export.</a:t>
            </a:r>
          </a:p>
        </p:txBody>
      </p:sp>
      <p:sp>
        <p:nvSpPr>
          <p:cNvPr id="10" name="Rounded Rectangle 9"/>
          <p:cNvSpPr/>
          <p:nvPr/>
        </p:nvSpPr>
        <p:spPr>
          <a:xfrm>
            <a:off x="6355080" y="3337560"/>
            <a:ext cx="5440680" cy="1280160"/>
          </a:xfrm>
          <a:prstGeom prst="roundRect">
            <a:avLst/>
          </a:prstGeom>
          <a:solidFill>
            <a:srgbClr val="161616"/>
          </a:solidFill>
          <a:ln w="6350">
            <a:solidFill>
              <a:srgbClr val="2A2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29400" y="3502152"/>
            <a:ext cx="4892040" cy="365760"/>
          </a:xfrm>
          <a:prstGeom prst="rect">
            <a:avLst/>
          </a:prstGeom>
          <a:noFill/>
        </p:spPr>
        <p:txBody>
          <a:bodyPr wrap="square" lIns="0" rIns="0" tIns="0" bIns="0" anchor="t">
            <a:spAutoFit/>
          </a:bodyPr>
          <a:lstStyle/>
          <a:p>
            <a:pPr algn="l">
              <a:lnSpc>
                <a:spcPct val="115000"/>
              </a:lnSpc>
            </a:pPr>
            <a:r>
              <a:rPr sz="1600" b="1" i="0">
                <a:solidFill>
                  <a:srgbClr val="B5FF3D"/>
                </a:solidFill>
                <a:latin typeface="Bricolage Grotesque"/>
              </a:rPr>
              <a:t>Marketplace</a:t>
            </a:r>
          </a:p>
        </p:txBody>
      </p:sp>
      <p:sp>
        <p:nvSpPr>
          <p:cNvPr id="12" name="TextBox 11"/>
          <p:cNvSpPr txBox="1"/>
          <p:nvPr/>
        </p:nvSpPr>
        <p:spPr>
          <a:xfrm>
            <a:off x="6629400" y="3886200"/>
            <a:ext cx="4892040" cy="713232"/>
          </a:xfrm>
          <a:prstGeom prst="rect">
            <a:avLst/>
          </a:prstGeom>
          <a:noFill/>
        </p:spPr>
        <p:txBody>
          <a:bodyPr wrap="square" lIns="0" rIns="0" tIns="0" bIns="0" anchor="t">
            <a:spAutoFit/>
          </a:bodyPr>
          <a:lstStyle/>
          <a:p>
            <a:pPr algn="l">
              <a:lnSpc>
                <a:spcPct val="130000"/>
              </a:lnSpc>
            </a:pPr>
            <a:r>
              <a:rPr sz="1100" b="0" i="0">
                <a:solidFill>
                  <a:srgbClr val="FFFFFF"/>
                </a:solidFill>
                <a:latin typeface="Inter"/>
              </a:rPr>
              <a:t>13 product categories. 121 subcategories. Manufacturer-built templates filtered by format, region, capability, and certification.</a:t>
            </a:r>
          </a:p>
        </p:txBody>
      </p:sp>
      <p:sp>
        <p:nvSpPr>
          <p:cNvPr id="13" name="Rounded Rectangle 12"/>
          <p:cNvSpPr/>
          <p:nvPr/>
        </p:nvSpPr>
        <p:spPr>
          <a:xfrm>
            <a:off x="640080" y="4754880"/>
            <a:ext cx="5440680" cy="1280160"/>
          </a:xfrm>
          <a:prstGeom prst="roundRect">
            <a:avLst/>
          </a:prstGeom>
          <a:solidFill>
            <a:srgbClr val="161616"/>
          </a:solidFill>
          <a:ln w="6350">
            <a:solidFill>
              <a:srgbClr val="2A2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4919472"/>
            <a:ext cx="4892040" cy="365760"/>
          </a:xfrm>
          <a:prstGeom prst="rect">
            <a:avLst/>
          </a:prstGeom>
          <a:noFill/>
        </p:spPr>
        <p:txBody>
          <a:bodyPr wrap="square" lIns="0" rIns="0" tIns="0" bIns="0" anchor="t">
            <a:spAutoFit/>
          </a:bodyPr>
          <a:lstStyle/>
          <a:p>
            <a:pPr algn="l">
              <a:lnSpc>
                <a:spcPct val="115000"/>
              </a:lnSpc>
            </a:pPr>
            <a:r>
              <a:rPr sz="1600" b="1" i="0">
                <a:solidFill>
                  <a:srgbClr val="B5FF3D"/>
                </a:solidFill>
                <a:latin typeface="Bricolage Grotesque"/>
              </a:rPr>
              <a:t>Orchestration</a:t>
            </a:r>
          </a:p>
        </p:txBody>
      </p:sp>
      <p:sp>
        <p:nvSpPr>
          <p:cNvPr id="15" name="TextBox 14"/>
          <p:cNvSpPr txBox="1"/>
          <p:nvPr/>
        </p:nvSpPr>
        <p:spPr>
          <a:xfrm>
            <a:off x="914400" y="5303520"/>
            <a:ext cx="4892040" cy="713232"/>
          </a:xfrm>
          <a:prstGeom prst="rect">
            <a:avLst/>
          </a:prstGeom>
          <a:noFill/>
        </p:spPr>
        <p:txBody>
          <a:bodyPr wrap="square" lIns="0" rIns="0" tIns="0" bIns="0" anchor="t">
            <a:spAutoFit/>
          </a:bodyPr>
          <a:lstStyle/>
          <a:p>
            <a:pPr algn="l">
              <a:lnSpc>
                <a:spcPct val="130000"/>
              </a:lnSpc>
            </a:pPr>
            <a:r>
              <a:rPr sz="1100" b="0" i="0">
                <a:solidFill>
                  <a:srgbClr val="FFFFFF"/>
                </a:solidFill>
                <a:latin typeface="Inter"/>
              </a:rPr>
              <a:t>Each order decomposes into a multi-partner workflow graph: manufacturer → printer → co-packer → warehouse → creator's channel.</a:t>
            </a:r>
          </a:p>
        </p:txBody>
      </p:sp>
      <p:sp>
        <p:nvSpPr>
          <p:cNvPr id="16" name="Rounded Rectangle 15"/>
          <p:cNvSpPr/>
          <p:nvPr/>
        </p:nvSpPr>
        <p:spPr>
          <a:xfrm>
            <a:off x="6355080" y="4754880"/>
            <a:ext cx="5440680" cy="1280160"/>
          </a:xfrm>
          <a:prstGeom prst="roundRect">
            <a:avLst/>
          </a:prstGeom>
          <a:solidFill>
            <a:srgbClr val="161616"/>
          </a:solidFill>
          <a:ln w="6350">
            <a:solidFill>
              <a:srgbClr val="2A2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29400" y="4919472"/>
            <a:ext cx="4892040" cy="365760"/>
          </a:xfrm>
          <a:prstGeom prst="rect">
            <a:avLst/>
          </a:prstGeom>
          <a:noFill/>
        </p:spPr>
        <p:txBody>
          <a:bodyPr wrap="square" lIns="0" rIns="0" tIns="0" bIns="0" anchor="t">
            <a:spAutoFit/>
          </a:bodyPr>
          <a:lstStyle/>
          <a:p>
            <a:pPr algn="l">
              <a:lnSpc>
                <a:spcPct val="115000"/>
              </a:lnSpc>
            </a:pPr>
            <a:r>
              <a:rPr sz="1600" b="1" i="0">
                <a:solidFill>
                  <a:srgbClr val="B5FF3D"/>
                </a:solidFill>
                <a:latin typeface="Bricolage Grotesque"/>
              </a:rPr>
              <a:t>Money + manifest</a:t>
            </a:r>
          </a:p>
        </p:txBody>
      </p:sp>
      <p:sp>
        <p:nvSpPr>
          <p:cNvPr id="18" name="TextBox 17"/>
          <p:cNvSpPr txBox="1"/>
          <p:nvPr/>
        </p:nvSpPr>
        <p:spPr>
          <a:xfrm>
            <a:off x="6629400" y="5303520"/>
            <a:ext cx="4892040" cy="713232"/>
          </a:xfrm>
          <a:prstGeom prst="rect">
            <a:avLst/>
          </a:prstGeom>
          <a:noFill/>
        </p:spPr>
        <p:txBody>
          <a:bodyPr wrap="square" lIns="0" rIns="0" tIns="0" bIns="0" anchor="t">
            <a:spAutoFit/>
          </a:bodyPr>
          <a:lstStyle/>
          <a:p>
            <a:pPr algn="l">
              <a:lnSpc>
                <a:spcPct val="130000"/>
              </a:lnSpc>
            </a:pPr>
            <a:r>
              <a:rPr sz="1100" b="0" i="0">
                <a:solidFill>
                  <a:srgbClr val="FFFFFF"/>
                </a:solidFill>
                <a:latin typeface="Inter"/>
              </a:rPr>
              <a:t>Stripe Connect multi-party payouts. Payment held until every partner approves. Manifest versioned and audit-logged end-to-end.</a:t>
            </a:r>
          </a:p>
        </p:txBody>
      </p:sp>
      <p:sp>
        <p:nvSpPr>
          <p:cNvPr id="19" name="TextBox 18"/>
          <p:cNvSpPr txBox="1"/>
          <p:nvPr/>
        </p:nvSpPr>
        <p:spPr>
          <a:xfrm>
            <a:off x="640080" y="6355080"/>
            <a:ext cx="11155680" cy="457200"/>
          </a:xfrm>
          <a:prstGeom prst="rect">
            <a:avLst/>
          </a:prstGeom>
          <a:noFill/>
        </p:spPr>
        <p:txBody>
          <a:bodyPr wrap="square" lIns="0" rIns="0" tIns="0" bIns="0" anchor="t">
            <a:spAutoFit/>
          </a:bodyPr>
          <a:lstStyle/>
          <a:p>
            <a:pPr algn="l">
              <a:lnSpc>
                <a:spcPct val="120000"/>
              </a:lnSpc>
            </a:pPr>
            <a:r>
              <a:rPr sz="1400" b="0" i="0">
                <a:solidFill>
                  <a:srgbClr val="C0C0C0"/>
                </a:solidFill>
                <a:latin typeface="Inter"/>
              </a:rPr>
              <a:t>V1 ships </a:t>
            </a:r>
            <a:r>
              <a:rPr sz="1400" b="1" i="0">
                <a:solidFill>
                  <a:srgbClr val="B5FF3D"/>
                </a:solidFill>
                <a:latin typeface="Inter"/>
              </a:rPr>
              <a:t>Mode 1 </a:t>
            </a:r>
            <a:r>
              <a:rPr sz="1400" b="0" i="0">
                <a:solidFill>
                  <a:srgbClr val="C0C0C0"/>
                </a:solidFill>
                <a:latin typeface="Inter"/>
              </a:rPr>
              <a:t>(direct routing). V2 ships </a:t>
            </a:r>
            <a:r>
              <a:rPr sz="1400" b="1" i="0">
                <a:solidFill>
                  <a:srgbClr val="B5FF3D"/>
                </a:solidFill>
                <a:latin typeface="Inter"/>
              </a:rPr>
              <a:t>pooling + buffer inventory </a:t>
            </a:r>
            <a:r>
              <a:rPr sz="1400" b="0" i="0">
                <a:solidFill>
                  <a:srgbClr val="C0C0C0"/>
                </a:solidFill>
                <a:latin typeface="Inter"/>
              </a:rPr>
              <a:t>— that's where the moat lives.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640080" y="621792"/>
            <a:ext cx="164592" cy="164592"/>
          </a:xfrm>
          <a:prstGeom prst="ellipse">
            <a:avLst/>
          </a:prstGeom>
          <a:solidFill>
            <a:srgbClr val="FF2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96112" y="457200"/>
            <a:ext cx="2286000" cy="457200"/>
          </a:xfrm>
          <a:prstGeom prst="rect">
            <a:avLst/>
          </a:prstGeom>
          <a:noFill/>
        </p:spPr>
        <p:txBody>
          <a:bodyPr wrap="square" lIns="0" rIns="0" tIns="0" bIns="0" anchor="t">
            <a:spAutoFit/>
          </a:bodyPr>
          <a:lstStyle/>
          <a:p>
            <a:pPr algn="l">
              <a:lnSpc>
                <a:spcPct val="115000"/>
              </a:lnSpc>
            </a:pPr>
            <a:r>
              <a:rPr sz="2000" b="1" i="0">
                <a:solidFill>
                  <a:srgbClr val="0A0A0A"/>
                </a:solidFill>
                <a:latin typeface="Bricolage Grotesque"/>
              </a:rPr>
              <a:t>iLaunchify</a:t>
            </a:r>
          </a:p>
        </p:txBody>
      </p:sp>
      <p:sp>
        <p:nvSpPr>
          <p:cNvPr id="5" name="Rounded Rectangle 4"/>
          <p:cNvSpPr/>
          <p:nvPr/>
        </p:nvSpPr>
        <p:spPr>
          <a:xfrm>
            <a:off x="640080" y="1097280"/>
            <a:ext cx="1280160" cy="329184"/>
          </a:xfrm>
          <a:prstGeom prst="roundRect">
            <a:avLst>
              <a:gd name="adj" fmla="val 50000"/>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rIns="164592" tIns="36576" bIns="36576" wrap="none"/>
          <a:lstStyle/>
          <a:p>
            <a:pPr algn="ctr"/>
            <a:r>
              <a:rPr sz="1000" b="1">
                <a:solidFill>
                  <a:srgbClr val="FFFFFF"/>
                </a:solidFill>
                <a:latin typeface="Inter"/>
              </a:rPr>
              <a:t>04 · DEMO</a:t>
            </a:r>
          </a:p>
        </p:txBody>
      </p:sp>
      <p:sp>
        <p:nvSpPr>
          <p:cNvPr id="6" name="TextBox 5"/>
          <p:cNvSpPr txBox="1"/>
          <p:nvPr/>
        </p:nvSpPr>
        <p:spPr>
          <a:xfrm>
            <a:off x="640080" y="1600200"/>
            <a:ext cx="10972800" cy="1554480"/>
          </a:xfrm>
          <a:prstGeom prst="rect">
            <a:avLst/>
          </a:prstGeom>
          <a:noFill/>
        </p:spPr>
        <p:txBody>
          <a:bodyPr wrap="square" lIns="0" rIns="0" tIns="0" bIns="0" anchor="t">
            <a:spAutoFit/>
          </a:bodyPr>
          <a:lstStyle/>
          <a:p>
            <a:pPr algn="l">
              <a:lnSpc>
                <a:spcPct val="105000"/>
              </a:lnSpc>
            </a:pPr>
            <a:r>
              <a:rPr sz="3600" b="1" i="0">
                <a:solidFill>
                  <a:srgbClr val="0A0A0A"/>
                </a:solidFill>
                <a:latin typeface="Bricolage Grotesque"/>
              </a:rPr>
              <a:t>One creator. One order.</a:t>
            </a:r>
          </a:p>
          <a:p>
            <a:pPr algn="l">
              <a:lnSpc>
                <a:spcPct val="105000"/>
              </a:lnSpc>
            </a:pPr>
            <a:r>
              <a:rPr sz="3600" b="1" i="0">
                <a:solidFill>
                  <a:srgbClr val="0A0A0A"/>
                </a:solidFill>
                <a:latin typeface="Bricolage Grotesque"/>
              </a:rPr>
              <a:t>Everything else hidden.</a:t>
            </a:r>
          </a:p>
        </p:txBody>
      </p:sp>
      <p:sp>
        <p:nvSpPr>
          <p:cNvPr id="7" name="Rounded Rectangle 6"/>
          <p:cNvSpPr/>
          <p:nvPr/>
        </p:nvSpPr>
        <p:spPr>
          <a:xfrm>
            <a:off x="640080" y="3520440"/>
            <a:ext cx="3611880" cy="2606040"/>
          </a:xfrm>
          <a:prstGeom prst="roundRect">
            <a:avLst/>
          </a:prstGeom>
          <a:solidFill>
            <a:srgbClr val="FFFFFF"/>
          </a:solidFill>
          <a:ln w="9525">
            <a:solidFill>
              <a:srgbClr val="C9C4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68680" y="3749040"/>
            <a:ext cx="3154680" cy="1051560"/>
          </a:xfrm>
          <a:prstGeom prst="roundRect">
            <a:avLst/>
          </a:prstGeom>
          <a:solidFill>
            <a:srgbClr val="F3E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3749040"/>
            <a:ext cx="3154680" cy="1051560"/>
          </a:xfrm>
          <a:prstGeom prst="rect">
            <a:avLst/>
          </a:prstGeom>
          <a:noFill/>
        </p:spPr>
        <p:txBody>
          <a:bodyPr wrap="square" lIns="0" rIns="0" tIns="0" bIns="0" anchor="ctr">
            <a:spAutoFit/>
          </a:bodyPr>
          <a:lstStyle/>
          <a:p>
            <a:pPr algn="ctr">
              <a:lnSpc>
                <a:spcPct val="115000"/>
              </a:lnSpc>
            </a:pPr>
            <a:r>
              <a:rPr sz="1000" b="0" i="1">
                <a:solidFill>
                  <a:srgbClr val="6B6B6B"/>
                </a:solidFill>
                <a:latin typeface="Inter"/>
              </a:rPr>
              <a:t>[ SCREENSHOT: Marketplace listing ]</a:t>
            </a:r>
          </a:p>
        </p:txBody>
      </p:sp>
      <p:sp>
        <p:nvSpPr>
          <p:cNvPr id="10" name="Oval 9"/>
          <p:cNvSpPr/>
          <p:nvPr/>
        </p:nvSpPr>
        <p:spPr>
          <a:xfrm>
            <a:off x="914400" y="4937760"/>
            <a:ext cx="411480" cy="411480"/>
          </a:xfrm>
          <a:prstGeom prst="ellipse">
            <a:avLst/>
          </a:prstGeom>
          <a:solidFill>
            <a:srgbClr val="FF2E6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Bricolage Grotesque"/>
              </a:rPr>
              <a:t>1</a:t>
            </a:r>
          </a:p>
        </p:txBody>
      </p:sp>
      <p:sp>
        <p:nvSpPr>
          <p:cNvPr id="11" name="TextBox 10"/>
          <p:cNvSpPr txBox="1"/>
          <p:nvPr/>
        </p:nvSpPr>
        <p:spPr>
          <a:xfrm>
            <a:off x="1417320" y="4983480"/>
            <a:ext cx="2606040" cy="411480"/>
          </a:xfrm>
          <a:prstGeom prst="rect">
            <a:avLst/>
          </a:prstGeom>
          <a:noFill/>
        </p:spPr>
        <p:txBody>
          <a:bodyPr wrap="square" lIns="0" rIns="0" tIns="0" bIns="0" anchor="t">
            <a:spAutoFit/>
          </a:bodyPr>
          <a:lstStyle/>
          <a:p>
            <a:pPr algn="l">
              <a:lnSpc>
                <a:spcPct val="115000"/>
              </a:lnSpc>
            </a:pPr>
            <a:r>
              <a:rPr sz="1500" b="1" i="0">
                <a:solidFill>
                  <a:srgbClr val="0A0A0A"/>
                </a:solidFill>
                <a:latin typeface="Bricolage Grotesque"/>
              </a:rPr>
              <a:t>Pick a template</a:t>
            </a:r>
          </a:p>
        </p:txBody>
      </p:sp>
      <p:sp>
        <p:nvSpPr>
          <p:cNvPr id="12" name="TextBox 11"/>
          <p:cNvSpPr txBox="1"/>
          <p:nvPr/>
        </p:nvSpPr>
        <p:spPr>
          <a:xfrm>
            <a:off x="914400" y="5440680"/>
            <a:ext cx="3063240" cy="685800"/>
          </a:xfrm>
          <a:prstGeom prst="rect">
            <a:avLst/>
          </a:prstGeom>
          <a:noFill/>
        </p:spPr>
        <p:txBody>
          <a:bodyPr wrap="square" lIns="0" rIns="0" tIns="0" bIns="0" anchor="t">
            <a:spAutoFit/>
          </a:bodyPr>
          <a:lstStyle/>
          <a:p>
            <a:pPr algn="l">
              <a:lnSpc>
                <a:spcPct val="130000"/>
              </a:lnSpc>
            </a:pPr>
            <a:r>
              <a:rPr sz="1100" b="0" i="0">
                <a:solidFill>
                  <a:srgbClr val="2B2B2B"/>
                </a:solidFill>
                <a:latin typeface="Inter"/>
              </a:rPr>
              <a:t>Creator browses the Marketplace — e.g., a 12-pack kombucha or capsule supplement — pre-validated by a real manufacturer.</a:t>
            </a:r>
          </a:p>
        </p:txBody>
      </p:sp>
      <p:sp>
        <p:nvSpPr>
          <p:cNvPr id="13" name="Rounded Rectangle 12"/>
          <p:cNvSpPr/>
          <p:nvPr/>
        </p:nvSpPr>
        <p:spPr>
          <a:xfrm>
            <a:off x="4434840" y="3520440"/>
            <a:ext cx="3611880" cy="2606040"/>
          </a:xfrm>
          <a:prstGeom prst="roundRect">
            <a:avLst/>
          </a:prstGeom>
          <a:solidFill>
            <a:srgbClr val="FFFFFF"/>
          </a:solidFill>
          <a:ln w="9525">
            <a:solidFill>
              <a:srgbClr val="C9C4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663440" y="3749040"/>
            <a:ext cx="3154680" cy="1051560"/>
          </a:xfrm>
          <a:prstGeom prst="roundRect">
            <a:avLst/>
          </a:prstGeom>
          <a:solidFill>
            <a:srgbClr val="F3E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3440" y="3749040"/>
            <a:ext cx="3154680" cy="1051560"/>
          </a:xfrm>
          <a:prstGeom prst="rect">
            <a:avLst/>
          </a:prstGeom>
          <a:noFill/>
        </p:spPr>
        <p:txBody>
          <a:bodyPr wrap="square" lIns="0" rIns="0" tIns="0" bIns="0" anchor="ctr">
            <a:spAutoFit/>
          </a:bodyPr>
          <a:lstStyle/>
          <a:p>
            <a:pPr algn="ctr">
              <a:lnSpc>
                <a:spcPct val="115000"/>
              </a:lnSpc>
            </a:pPr>
            <a:r>
              <a:rPr sz="1000" b="0" i="1">
                <a:solidFill>
                  <a:srgbClr val="6B6B6B"/>
                </a:solidFill>
                <a:latin typeface="Inter"/>
              </a:rPr>
              <a:t>[ SCREENSHOT: Design Studio canvas ]</a:t>
            </a:r>
          </a:p>
        </p:txBody>
      </p:sp>
      <p:sp>
        <p:nvSpPr>
          <p:cNvPr id="16" name="Oval 15"/>
          <p:cNvSpPr/>
          <p:nvPr/>
        </p:nvSpPr>
        <p:spPr>
          <a:xfrm>
            <a:off x="4709160" y="4937760"/>
            <a:ext cx="411480" cy="411480"/>
          </a:xfrm>
          <a:prstGeom prst="ellipse">
            <a:avLst/>
          </a:prstGeom>
          <a:solidFill>
            <a:srgbClr val="FF2E6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Bricolage Grotesque"/>
              </a:rPr>
              <a:t>2</a:t>
            </a:r>
          </a:p>
        </p:txBody>
      </p:sp>
      <p:sp>
        <p:nvSpPr>
          <p:cNvPr id="17" name="TextBox 16"/>
          <p:cNvSpPr txBox="1"/>
          <p:nvPr/>
        </p:nvSpPr>
        <p:spPr>
          <a:xfrm>
            <a:off x="5212080" y="4983480"/>
            <a:ext cx="2606040" cy="411480"/>
          </a:xfrm>
          <a:prstGeom prst="rect">
            <a:avLst/>
          </a:prstGeom>
          <a:noFill/>
        </p:spPr>
        <p:txBody>
          <a:bodyPr wrap="square" lIns="0" rIns="0" tIns="0" bIns="0" anchor="t">
            <a:spAutoFit/>
          </a:bodyPr>
          <a:lstStyle/>
          <a:p>
            <a:pPr algn="l">
              <a:lnSpc>
                <a:spcPct val="115000"/>
              </a:lnSpc>
            </a:pPr>
            <a:r>
              <a:rPr sz="1500" b="1" i="0">
                <a:solidFill>
                  <a:srgbClr val="0A0A0A"/>
                </a:solidFill>
                <a:latin typeface="Bricolage Grotesque"/>
              </a:rPr>
              <a:t>Customize in Studio</a:t>
            </a:r>
          </a:p>
        </p:txBody>
      </p:sp>
      <p:sp>
        <p:nvSpPr>
          <p:cNvPr id="18" name="TextBox 17"/>
          <p:cNvSpPr txBox="1"/>
          <p:nvPr/>
        </p:nvSpPr>
        <p:spPr>
          <a:xfrm>
            <a:off x="4709160" y="5440680"/>
            <a:ext cx="3063240" cy="685800"/>
          </a:xfrm>
          <a:prstGeom prst="rect">
            <a:avLst/>
          </a:prstGeom>
          <a:noFill/>
        </p:spPr>
        <p:txBody>
          <a:bodyPr wrap="square" lIns="0" rIns="0" tIns="0" bIns="0" anchor="t">
            <a:spAutoFit/>
          </a:bodyPr>
          <a:lstStyle/>
          <a:p>
            <a:pPr algn="l">
              <a:lnSpc>
                <a:spcPct val="130000"/>
              </a:lnSpc>
            </a:pPr>
            <a:r>
              <a:rPr sz="1100" b="0" i="0">
                <a:solidFill>
                  <a:srgbClr val="2B2B2B"/>
                </a:solidFill>
                <a:latin typeface="Inter"/>
              </a:rPr>
              <a:t>Recipe, label, packaging surfaces. FDA scan runs live as they design. Brand assets pre-fill. Print-ready PDF exports.</a:t>
            </a:r>
          </a:p>
        </p:txBody>
      </p:sp>
      <p:sp>
        <p:nvSpPr>
          <p:cNvPr id="19" name="Rounded Rectangle 18"/>
          <p:cNvSpPr/>
          <p:nvPr/>
        </p:nvSpPr>
        <p:spPr>
          <a:xfrm>
            <a:off x="8229600" y="3520440"/>
            <a:ext cx="3611880" cy="2606040"/>
          </a:xfrm>
          <a:prstGeom prst="roundRect">
            <a:avLst/>
          </a:prstGeom>
          <a:solidFill>
            <a:srgbClr val="FFFFFF"/>
          </a:solidFill>
          <a:ln w="9525">
            <a:solidFill>
              <a:srgbClr val="C9C4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458200" y="3749040"/>
            <a:ext cx="3154680" cy="1051560"/>
          </a:xfrm>
          <a:prstGeom prst="roundRect">
            <a:avLst/>
          </a:prstGeom>
          <a:solidFill>
            <a:srgbClr val="F3E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58200" y="3749040"/>
            <a:ext cx="3154680" cy="1051560"/>
          </a:xfrm>
          <a:prstGeom prst="rect">
            <a:avLst/>
          </a:prstGeom>
          <a:noFill/>
        </p:spPr>
        <p:txBody>
          <a:bodyPr wrap="square" lIns="0" rIns="0" tIns="0" bIns="0" anchor="ctr">
            <a:spAutoFit/>
          </a:bodyPr>
          <a:lstStyle/>
          <a:p>
            <a:pPr algn="ctr">
              <a:lnSpc>
                <a:spcPct val="115000"/>
              </a:lnSpc>
            </a:pPr>
            <a:r>
              <a:rPr sz="1000" b="0" i="1">
                <a:solidFill>
                  <a:srgbClr val="6B6B6B"/>
                </a:solidFill>
                <a:latin typeface="Inter"/>
              </a:rPr>
              <a:t>[ SCREENSHOT: Production timeline ]</a:t>
            </a:r>
          </a:p>
        </p:txBody>
      </p:sp>
      <p:sp>
        <p:nvSpPr>
          <p:cNvPr id="22" name="Oval 21"/>
          <p:cNvSpPr/>
          <p:nvPr/>
        </p:nvSpPr>
        <p:spPr>
          <a:xfrm>
            <a:off x="8503920" y="4937760"/>
            <a:ext cx="411480" cy="411480"/>
          </a:xfrm>
          <a:prstGeom prst="ellipse">
            <a:avLst/>
          </a:prstGeom>
          <a:solidFill>
            <a:srgbClr val="FF2E6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Bricolage Grotesque"/>
              </a:rPr>
              <a:t>3</a:t>
            </a:r>
          </a:p>
        </p:txBody>
      </p:sp>
      <p:sp>
        <p:nvSpPr>
          <p:cNvPr id="23" name="TextBox 22"/>
          <p:cNvSpPr txBox="1"/>
          <p:nvPr/>
        </p:nvSpPr>
        <p:spPr>
          <a:xfrm>
            <a:off x="9006840" y="4983480"/>
            <a:ext cx="2606040" cy="411480"/>
          </a:xfrm>
          <a:prstGeom prst="rect">
            <a:avLst/>
          </a:prstGeom>
          <a:noFill/>
        </p:spPr>
        <p:txBody>
          <a:bodyPr wrap="square" lIns="0" rIns="0" tIns="0" bIns="0" anchor="t">
            <a:spAutoFit/>
          </a:bodyPr>
          <a:lstStyle/>
          <a:p>
            <a:pPr algn="l">
              <a:lnSpc>
                <a:spcPct val="115000"/>
              </a:lnSpc>
            </a:pPr>
            <a:r>
              <a:rPr sz="1500" b="1" i="0">
                <a:solidFill>
                  <a:srgbClr val="0A0A0A"/>
                </a:solidFill>
                <a:latin typeface="Bricolage Grotesque"/>
              </a:rPr>
              <a:t>We orchestrate</a:t>
            </a:r>
          </a:p>
        </p:txBody>
      </p:sp>
      <p:sp>
        <p:nvSpPr>
          <p:cNvPr id="24" name="TextBox 23"/>
          <p:cNvSpPr txBox="1"/>
          <p:nvPr/>
        </p:nvSpPr>
        <p:spPr>
          <a:xfrm>
            <a:off x="8503920" y="5440680"/>
            <a:ext cx="3063240" cy="685800"/>
          </a:xfrm>
          <a:prstGeom prst="rect">
            <a:avLst/>
          </a:prstGeom>
          <a:noFill/>
        </p:spPr>
        <p:txBody>
          <a:bodyPr wrap="square" lIns="0" rIns="0" tIns="0" bIns="0" anchor="t">
            <a:spAutoFit/>
          </a:bodyPr>
          <a:lstStyle/>
          <a:p>
            <a:pPr algn="l">
              <a:lnSpc>
                <a:spcPct val="130000"/>
              </a:lnSpc>
            </a:pPr>
            <a:r>
              <a:rPr sz="1100" b="0" i="0">
                <a:solidFill>
                  <a:srgbClr val="2B2B2B"/>
                </a:solidFill>
                <a:latin typeface="Inter"/>
              </a:rPr>
              <a:t>Order auto-routes across partners. Creator sees one timeline. Finished inventory lands in the creator's Shopify or TikTok Shop.</a:t>
            </a:r>
          </a:p>
        </p:txBody>
      </p:sp>
      <p:sp>
        <p:nvSpPr>
          <p:cNvPr id="25" name="TextBox 24"/>
          <p:cNvSpPr txBox="1"/>
          <p:nvPr/>
        </p:nvSpPr>
        <p:spPr>
          <a:xfrm>
            <a:off x="640080" y="6355080"/>
            <a:ext cx="11155680" cy="457200"/>
          </a:xfrm>
          <a:prstGeom prst="rect">
            <a:avLst/>
          </a:prstGeom>
          <a:noFill/>
        </p:spPr>
        <p:txBody>
          <a:bodyPr wrap="square" lIns="0" rIns="0" tIns="0" bIns="0" anchor="t">
            <a:spAutoFit/>
          </a:bodyPr>
          <a:lstStyle/>
          <a:p>
            <a:pPr algn="l">
              <a:lnSpc>
                <a:spcPct val="120000"/>
              </a:lnSpc>
            </a:pPr>
            <a:r>
              <a:rPr sz="1200" b="1" i="0">
                <a:solidFill>
                  <a:srgbClr val="0A0A0A"/>
                </a:solidFill>
                <a:latin typeface="Bricolage Grotesque"/>
              </a:rPr>
              <a:t>The hidden hard part: </a:t>
            </a:r>
            <a:r>
              <a:rPr sz="1150" b="0" i="0">
                <a:solidFill>
                  <a:srgbClr val="2B2B2B"/>
                </a:solidFill>
                <a:latin typeface="Inter"/>
              </a:rPr>
              <a:t>payment held until all partners approve. Manifest locked + versioned. Every state transition audit-logged.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640080" y="621792"/>
            <a:ext cx="164592" cy="164592"/>
          </a:xfrm>
          <a:prstGeom prst="ellipse">
            <a:avLst/>
          </a:prstGeom>
          <a:solidFill>
            <a:srgbClr val="B5FF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96112" y="457200"/>
            <a:ext cx="2286000" cy="457200"/>
          </a:xfrm>
          <a:prstGeom prst="rect">
            <a:avLst/>
          </a:prstGeom>
          <a:noFill/>
        </p:spPr>
        <p:txBody>
          <a:bodyPr wrap="square" lIns="0" rIns="0" tIns="0" bIns="0" anchor="t">
            <a:spAutoFit/>
          </a:bodyPr>
          <a:lstStyle/>
          <a:p>
            <a:pPr algn="l">
              <a:lnSpc>
                <a:spcPct val="115000"/>
              </a:lnSpc>
            </a:pPr>
            <a:r>
              <a:rPr sz="2000" b="1" i="0">
                <a:solidFill>
                  <a:srgbClr val="FFFFFF"/>
                </a:solidFill>
                <a:latin typeface="Bricolage Grotesque"/>
              </a:rPr>
              <a:t>iLaunchify</a:t>
            </a:r>
          </a:p>
        </p:txBody>
      </p:sp>
      <p:sp>
        <p:nvSpPr>
          <p:cNvPr id="5" name="Rounded Rectangle 4"/>
          <p:cNvSpPr/>
          <p:nvPr/>
        </p:nvSpPr>
        <p:spPr>
          <a:xfrm>
            <a:off x="640080" y="1097280"/>
            <a:ext cx="1280160" cy="329184"/>
          </a:xfrm>
          <a:prstGeom prst="roundRect">
            <a:avLst>
              <a:gd name="adj" fmla="val 50000"/>
            </a:avLst>
          </a:prstGeom>
          <a:solidFill>
            <a:srgbClr val="B5FF3D"/>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rIns="164592" tIns="36576" bIns="36576" wrap="none"/>
          <a:lstStyle/>
          <a:p>
            <a:pPr algn="ctr"/>
            <a:r>
              <a:rPr sz="1000" b="1">
                <a:solidFill>
                  <a:srgbClr val="0A0A0A"/>
                </a:solidFill>
                <a:latin typeface="Inter"/>
              </a:rPr>
              <a:t>05 · MOAT</a:t>
            </a:r>
          </a:p>
        </p:txBody>
      </p:sp>
      <p:sp>
        <p:nvSpPr>
          <p:cNvPr id="6" name="TextBox 5"/>
          <p:cNvSpPr txBox="1"/>
          <p:nvPr/>
        </p:nvSpPr>
        <p:spPr>
          <a:xfrm>
            <a:off x="640080" y="1600200"/>
            <a:ext cx="11155680" cy="1645920"/>
          </a:xfrm>
          <a:prstGeom prst="rect">
            <a:avLst/>
          </a:prstGeom>
          <a:noFill/>
        </p:spPr>
        <p:txBody>
          <a:bodyPr wrap="square" lIns="0" rIns="0" tIns="0" bIns="0" anchor="t">
            <a:spAutoFit/>
          </a:bodyPr>
          <a:lstStyle/>
          <a:p>
            <a:pPr algn="l">
              <a:lnSpc>
                <a:spcPct val="105000"/>
              </a:lnSpc>
            </a:pPr>
            <a:r>
              <a:rPr sz="3800" b="1" i="0">
                <a:solidFill>
                  <a:srgbClr val="FFFFFF"/>
                </a:solidFill>
                <a:latin typeface="Bricolage Grotesque"/>
              </a:rPr>
              <a:t>This is hard to build.
It is </a:t>
            </a:r>
            <a:r>
              <a:rPr sz="3800" b="1" i="1">
                <a:solidFill>
                  <a:srgbClr val="B5FF3D"/>
                </a:solidFill>
                <a:latin typeface="Fraunces"/>
              </a:rPr>
              <a:t>harder </a:t>
            </a:r>
            <a:r>
              <a:rPr sz="3800" b="1" i="0">
                <a:solidFill>
                  <a:srgbClr val="FFFFFF"/>
                </a:solidFill>
                <a:latin typeface="Bricolage Grotesque"/>
              </a:rPr>
              <a:t>to copy.</a:t>
            </a:r>
          </a:p>
        </p:txBody>
      </p:sp>
      <p:sp>
        <p:nvSpPr>
          <p:cNvPr id="7" name="Rounded Rectangle 6"/>
          <p:cNvSpPr/>
          <p:nvPr/>
        </p:nvSpPr>
        <p:spPr>
          <a:xfrm>
            <a:off x="640080" y="3383280"/>
            <a:ext cx="10927080" cy="1005840"/>
          </a:xfrm>
          <a:prstGeom prst="roundRect">
            <a:avLst/>
          </a:prstGeom>
          <a:solidFill>
            <a:srgbClr val="161616"/>
          </a:solidFill>
          <a:ln w="6350">
            <a:solidFill>
              <a:srgbClr val="2A2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914400" y="3611880"/>
            <a:ext cx="548640" cy="548640"/>
          </a:xfrm>
          <a:prstGeom prst="roundRect">
            <a:avLst/>
          </a:prstGeom>
          <a:solidFill>
            <a:srgbClr val="B5FF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611880"/>
            <a:ext cx="548640" cy="548640"/>
          </a:xfrm>
          <a:prstGeom prst="rect">
            <a:avLst/>
          </a:prstGeom>
          <a:noFill/>
        </p:spPr>
        <p:txBody>
          <a:bodyPr wrap="square" lIns="0" rIns="0" tIns="0" bIns="0" anchor="ctr">
            <a:spAutoFit/>
          </a:bodyPr>
          <a:lstStyle/>
          <a:p>
            <a:pPr algn="ctr">
              <a:lnSpc>
                <a:spcPct val="115000"/>
              </a:lnSpc>
            </a:pPr>
            <a:r>
              <a:rPr sz="1400" b="1" i="0">
                <a:solidFill>
                  <a:srgbClr val="0A0A0A"/>
                </a:solidFill>
                <a:latin typeface="Bricolage Grotesque"/>
              </a:rPr>
              <a:t>01</a:t>
            </a:r>
          </a:p>
        </p:txBody>
      </p:sp>
      <p:sp>
        <p:nvSpPr>
          <p:cNvPr id="10" name="TextBox 9"/>
          <p:cNvSpPr txBox="1"/>
          <p:nvPr/>
        </p:nvSpPr>
        <p:spPr>
          <a:xfrm>
            <a:off x="1600200" y="3547872"/>
            <a:ext cx="3657600" cy="457200"/>
          </a:xfrm>
          <a:prstGeom prst="rect">
            <a:avLst/>
          </a:prstGeom>
          <a:noFill/>
        </p:spPr>
        <p:txBody>
          <a:bodyPr wrap="square" lIns="0" rIns="0" tIns="0" bIns="0" anchor="t">
            <a:spAutoFit/>
          </a:bodyPr>
          <a:lstStyle/>
          <a:p>
            <a:pPr algn="l">
              <a:lnSpc>
                <a:spcPct val="115000"/>
              </a:lnSpc>
            </a:pPr>
            <a:r>
              <a:rPr sz="1500" b="1" i="0">
                <a:solidFill>
                  <a:srgbClr val="FFFFFF"/>
                </a:solidFill>
                <a:latin typeface="Bricolage Grotesque"/>
              </a:rPr>
              <a:t>The locked taxonomy</a:t>
            </a:r>
          </a:p>
        </p:txBody>
      </p:sp>
      <p:sp>
        <p:nvSpPr>
          <p:cNvPr id="11" name="TextBox 10"/>
          <p:cNvSpPr txBox="1"/>
          <p:nvPr/>
        </p:nvSpPr>
        <p:spPr>
          <a:xfrm>
            <a:off x="1600200" y="3886200"/>
            <a:ext cx="9646920" cy="457200"/>
          </a:xfrm>
          <a:prstGeom prst="rect">
            <a:avLst/>
          </a:prstGeom>
          <a:noFill/>
        </p:spPr>
        <p:txBody>
          <a:bodyPr wrap="square" lIns="0" rIns="0" tIns="0" bIns="0" anchor="t">
            <a:spAutoFit/>
          </a:bodyPr>
          <a:lstStyle/>
          <a:p>
            <a:pPr algn="l">
              <a:lnSpc>
                <a:spcPct val="130000"/>
              </a:lnSpc>
            </a:pPr>
            <a:r>
              <a:rPr sz="1100" b="0" i="0">
                <a:solidFill>
                  <a:srgbClr val="C8C8C8"/>
                </a:solidFill>
                <a:latin typeface="Inter"/>
              </a:rPr>
              <a:t>4-layer orthogonal model — 8 creator niches × 13 product categories × manufacturing format × 30 lifestyle tags. The discrimination is taste, not code; you can only build it with deep CPG + creator-economy fluency.</a:t>
            </a:r>
          </a:p>
        </p:txBody>
      </p:sp>
      <p:sp>
        <p:nvSpPr>
          <p:cNvPr id="12" name="Rounded Rectangle 11"/>
          <p:cNvSpPr/>
          <p:nvPr/>
        </p:nvSpPr>
        <p:spPr>
          <a:xfrm>
            <a:off x="640080" y="4526280"/>
            <a:ext cx="10927080" cy="1005840"/>
          </a:xfrm>
          <a:prstGeom prst="roundRect">
            <a:avLst/>
          </a:prstGeom>
          <a:solidFill>
            <a:srgbClr val="161616"/>
          </a:solidFill>
          <a:ln w="6350">
            <a:solidFill>
              <a:srgbClr val="2A2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914400" y="4754880"/>
            <a:ext cx="548640" cy="548640"/>
          </a:xfrm>
          <a:prstGeom prst="roundRect">
            <a:avLst/>
          </a:prstGeom>
          <a:solidFill>
            <a:srgbClr val="B5FF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4754880"/>
            <a:ext cx="548640" cy="548640"/>
          </a:xfrm>
          <a:prstGeom prst="rect">
            <a:avLst/>
          </a:prstGeom>
          <a:noFill/>
        </p:spPr>
        <p:txBody>
          <a:bodyPr wrap="square" lIns="0" rIns="0" tIns="0" bIns="0" anchor="ctr">
            <a:spAutoFit/>
          </a:bodyPr>
          <a:lstStyle/>
          <a:p>
            <a:pPr algn="ctr">
              <a:lnSpc>
                <a:spcPct val="115000"/>
              </a:lnSpc>
            </a:pPr>
            <a:r>
              <a:rPr sz="1400" b="1" i="0">
                <a:solidFill>
                  <a:srgbClr val="0A0A0A"/>
                </a:solidFill>
                <a:latin typeface="Bricolage Grotesque"/>
              </a:rPr>
              <a:t>02</a:t>
            </a:r>
          </a:p>
        </p:txBody>
      </p:sp>
      <p:sp>
        <p:nvSpPr>
          <p:cNvPr id="15" name="TextBox 14"/>
          <p:cNvSpPr txBox="1"/>
          <p:nvPr/>
        </p:nvSpPr>
        <p:spPr>
          <a:xfrm>
            <a:off x="1600200" y="4690872"/>
            <a:ext cx="3657600" cy="457200"/>
          </a:xfrm>
          <a:prstGeom prst="rect">
            <a:avLst/>
          </a:prstGeom>
          <a:noFill/>
        </p:spPr>
        <p:txBody>
          <a:bodyPr wrap="square" lIns="0" rIns="0" tIns="0" bIns="0" anchor="t">
            <a:spAutoFit/>
          </a:bodyPr>
          <a:lstStyle/>
          <a:p>
            <a:pPr algn="l">
              <a:lnSpc>
                <a:spcPct val="115000"/>
              </a:lnSpc>
            </a:pPr>
            <a:r>
              <a:rPr sz="1500" b="1" i="0">
                <a:solidFill>
                  <a:srgbClr val="FFFFFF"/>
                </a:solidFill>
                <a:latin typeface="Bricolage Grotesque"/>
              </a:rPr>
              <a:t>The 5-layer partner verification</a:t>
            </a:r>
          </a:p>
        </p:txBody>
      </p:sp>
      <p:sp>
        <p:nvSpPr>
          <p:cNvPr id="16" name="TextBox 15"/>
          <p:cNvSpPr txBox="1"/>
          <p:nvPr/>
        </p:nvSpPr>
        <p:spPr>
          <a:xfrm>
            <a:off x="1600200" y="5029200"/>
            <a:ext cx="9646920" cy="457200"/>
          </a:xfrm>
          <a:prstGeom prst="rect">
            <a:avLst/>
          </a:prstGeom>
          <a:noFill/>
        </p:spPr>
        <p:txBody>
          <a:bodyPr wrap="square" lIns="0" rIns="0" tIns="0" bIns="0" anchor="t">
            <a:spAutoFit/>
          </a:bodyPr>
          <a:lstStyle/>
          <a:p>
            <a:pPr algn="l">
              <a:lnSpc>
                <a:spcPct val="130000"/>
              </a:lnSpc>
            </a:pPr>
            <a:r>
              <a:rPr sz="1100" b="0" i="0">
                <a:solidFill>
                  <a:srgbClr val="C8C8C8"/>
                </a:solidFill>
                <a:latin typeface="Inter"/>
              </a:rPr>
              <a:t>10-state activation FSM. Identity, business, capability, commercial terms, operational standards — all verified before a partner can accept an order. This is operational defensibility. Code is cheap; trusted partner supply isn't.</a:t>
            </a:r>
          </a:p>
        </p:txBody>
      </p:sp>
      <p:sp>
        <p:nvSpPr>
          <p:cNvPr id="17" name="Rounded Rectangle 16"/>
          <p:cNvSpPr/>
          <p:nvPr/>
        </p:nvSpPr>
        <p:spPr>
          <a:xfrm>
            <a:off x="640080" y="5669280"/>
            <a:ext cx="10927080" cy="1005840"/>
          </a:xfrm>
          <a:prstGeom prst="roundRect">
            <a:avLst/>
          </a:prstGeom>
          <a:solidFill>
            <a:srgbClr val="161616"/>
          </a:solidFill>
          <a:ln w="6350">
            <a:solidFill>
              <a:srgbClr val="2A2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14400" y="5897880"/>
            <a:ext cx="548640" cy="548640"/>
          </a:xfrm>
          <a:prstGeom prst="roundRect">
            <a:avLst/>
          </a:prstGeom>
          <a:solidFill>
            <a:srgbClr val="B5FF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5897880"/>
            <a:ext cx="548640" cy="548640"/>
          </a:xfrm>
          <a:prstGeom prst="rect">
            <a:avLst/>
          </a:prstGeom>
          <a:noFill/>
        </p:spPr>
        <p:txBody>
          <a:bodyPr wrap="square" lIns="0" rIns="0" tIns="0" bIns="0" anchor="ctr">
            <a:spAutoFit/>
          </a:bodyPr>
          <a:lstStyle/>
          <a:p>
            <a:pPr algn="ctr">
              <a:lnSpc>
                <a:spcPct val="115000"/>
              </a:lnSpc>
            </a:pPr>
            <a:r>
              <a:rPr sz="1400" b="1" i="0">
                <a:solidFill>
                  <a:srgbClr val="0A0A0A"/>
                </a:solidFill>
                <a:latin typeface="Bricolage Grotesque"/>
              </a:rPr>
              <a:t>03</a:t>
            </a:r>
          </a:p>
        </p:txBody>
      </p:sp>
      <p:sp>
        <p:nvSpPr>
          <p:cNvPr id="20" name="TextBox 19"/>
          <p:cNvSpPr txBox="1"/>
          <p:nvPr/>
        </p:nvSpPr>
        <p:spPr>
          <a:xfrm>
            <a:off x="1600200" y="5833872"/>
            <a:ext cx="3657600" cy="457200"/>
          </a:xfrm>
          <a:prstGeom prst="rect">
            <a:avLst/>
          </a:prstGeom>
          <a:noFill/>
        </p:spPr>
        <p:txBody>
          <a:bodyPr wrap="square" lIns="0" rIns="0" tIns="0" bIns="0" anchor="t">
            <a:spAutoFit/>
          </a:bodyPr>
          <a:lstStyle/>
          <a:p>
            <a:pPr algn="l">
              <a:lnSpc>
                <a:spcPct val="115000"/>
              </a:lnSpc>
            </a:pPr>
            <a:r>
              <a:rPr sz="1500" b="1" i="0">
                <a:solidFill>
                  <a:srgbClr val="FFFFFF"/>
                </a:solidFill>
                <a:latin typeface="Bricolage Grotesque"/>
              </a:rPr>
              <a:t>The orchestration graph (V2)</a:t>
            </a:r>
          </a:p>
        </p:txBody>
      </p:sp>
      <p:sp>
        <p:nvSpPr>
          <p:cNvPr id="21" name="TextBox 20"/>
          <p:cNvSpPr txBox="1"/>
          <p:nvPr/>
        </p:nvSpPr>
        <p:spPr>
          <a:xfrm>
            <a:off x="1600200" y="6172200"/>
            <a:ext cx="9646920" cy="457200"/>
          </a:xfrm>
          <a:prstGeom prst="rect">
            <a:avLst/>
          </a:prstGeom>
          <a:noFill/>
        </p:spPr>
        <p:txBody>
          <a:bodyPr wrap="square" lIns="0" rIns="0" tIns="0" bIns="0" anchor="t">
            <a:spAutoFit/>
          </a:bodyPr>
          <a:lstStyle/>
          <a:p>
            <a:pPr algn="l">
              <a:lnSpc>
                <a:spcPct val="130000"/>
              </a:lnSpc>
            </a:pPr>
            <a:r>
              <a:rPr sz="1100" b="0" i="0">
                <a:solidFill>
                  <a:srgbClr val="C8C8C8"/>
                </a:solidFill>
                <a:latin typeface="Inter"/>
              </a:rPr>
              <a:t>Once partner capacity pools across orders, every new creator improves partner economics and every new partner shortens creator lead times. Two-sided network effect, gated by buffer inventory — that's the long-term moat.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640080" y="621792"/>
            <a:ext cx="164592" cy="164592"/>
          </a:xfrm>
          <a:prstGeom prst="ellipse">
            <a:avLst/>
          </a:prstGeom>
          <a:solidFill>
            <a:srgbClr val="FF2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96112" y="457200"/>
            <a:ext cx="2286000" cy="457200"/>
          </a:xfrm>
          <a:prstGeom prst="rect">
            <a:avLst/>
          </a:prstGeom>
          <a:noFill/>
        </p:spPr>
        <p:txBody>
          <a:bodyPr wrap="square" lIns="0" rIns="0" tIns="0" bIns="0" anchor="t">
            <a:spAutoFit/>
          </a:bodyPr>
          <a:lstStyle/>
          <a:p>
            <a:pPr algn="l">
              <a:lnSpc>
                <a:spcPct val="115000"/>
              </a:lnSpc>
            </a:pPr>
            <a:r>
              <a:rPr sz="2000" b="1" i="0">
                <a:solidFill>
                  <a:srgbClr val="0A0A0A"/>
                </a:solidFill>
                <a:latin typeface="Bricolage Grotesque"/>
              </a:rPr>
              <a:t>iLaunchify</a:t>
            </a:r>
          </a:p>
        </p:txBody>
      </p:sp>
      <p:sp>
        <p:nvSpPr>
          <p:cNvPr id="5" name="Rounded Rectangle 4"/>
          <p:cNvSpPr/>
          <p:nvPr/>
        </p:nvSpPr>
        <p:spPr>
          <a:xfrm>
            <a:off x="640080" y="1097280"/>
            <a:ext cx="1554480" cy="329184"/>
          </a:xfrm>
          <a:prstGeom prst="roundRect">
            <a:avLst>
              <a:gd name="adj" fmla="val 50000"/>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rIns="164592" tIns="36576" bIns="36576" wrap="none"/>
          <a:lstStyle/>
          <a:p>
            <a:pPr algn="ctr"/>
            <a:r>
              <a:rPr sz="1000" b="1">
                <a:solidFill>
                  <a:srgbClr val="FFFFFF"/>
                </a:solidFill>
                <a:latin typeface="Inter"/>
              </a:rPr>
              <a:t>06 · MONETIZATION</a:t>
            </a:r>
          </a:p>
        </p:txBody>
      </p:sp>
      <p:sp>
        <p:nvSpPr>
          <p:cNvPr id="6" name="TextBox 5"/>
          <p:cNvSpPr txBox="1"/>
          <p:nvPr/>
        </p:nvSpPr>
        <p:spPr>
          <a:xfrm>
            <a:off x="640080" y="1600200"/>
            <a:ext cx="10972800" cy="1554480"/>
          </a:xfrm>
          <a:prstGeom prst="rect">
            <a:avLst/>
          </a:prstGeom>
          <a:noFill/>
        </p:spPr>
        <p:txBody>
          <a:bodyPr wrap="square" lIns="0" rIns="0" tIns="0" bIns="0" anchor="t">
            <a:spAutoFit/>
          </a:bodyPr>
          <a:lstStyle/>
          <a:p>
            <a:pPr algn="l">
              <a:lnSpc>
                <a:spcPct val="105000"/>
              </a:lnSpc>
            </a:pPr>
            <a:r>
              <a:rPr sz="3600" b="1" i="0">
                <a:solidFill>
                  <a:srgbClr val="0A0A0A"/>
                </a:solidFill>
                <a:latin typeface="Bricolage Grotesque"/>
              </a:rPr>
              <a:t>Three revenue lines.</a:t>
            </a:r>
          </a:p>
          <a:p>
            <a:pPr algn="l">
              <a:lnSpc>
                <a:spcPct val="105000"/>
              </a:lnSpc>
            </a:pPr>
            <a:r>
              <a:rPr sz="3600" b="1" i="0">
                <a:solidFill>
                  <a:srgbClr val="0A0A0A"/>
                </a:solidFill>
                <a:latin typeface="Bricolage Grotesque"/>
              </a:rPr>
              <a:t>Locked, in production.</a:t>
            </a:r>
          </a:p>
        </p:txBody>
      </p:sp>
      <p:sp>
        <p:nvSpPr>
          <p:cNvPr id="7" name="Rounded Rectangle 6"/>
          <p:cNvSpPr/>
          <p:nvPr/>
        </p:nvSpPr>
        <p:spPr>
          <a:xfrm>
            <a:off x="640080" y="3383280"/>
            <a:ext cx="3611880" cy="2423160"/>
          </a:xfrm>
          <a:prstGeom prst="roundRect">
            <a:avLst/>
          </a:prstGeom>
          <a:solidFill>
            <a:srgbClr val="FFFFFF"/>
          </a:solidFill>
          <a:ln w="9525">
            <a:solidFill>
              <a:srgbClr val="C9C4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 y="3767328"/>
            <a:ext cx="146304" cy="146304"/>
          </a:xfrm>
          <a:prstGeom prst="ellipse">
            <a:avLst/>
          </a:prstGeom>
          <a:solidFill>
            <a:srgbClr val="FF2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3611880"/>
            <a:ext cx="2834640" cy="457200"/>
          </a:xfrm>
          <a:prstGeom prst="rect">
            <a:avLst/>
          </a:prstGeom>
          <a:noFill/>
        </p:spPr>
        <p:txBody>
          <a:bodyPr wrap="square" lIns="0" rIns="0" tIns="0" bIns="0" anchor="t">
            <a:spAutoFit/>
          </a:bodyPr>
          <a:lstStyle/>
          <a:p>
            <a:pPr algn="l">
              <a:lnSpc>
                <a:spcPct val="115000"/>
              </a:lnSpc>
            </a:pPr>
            <a:r>
              <a:rPr sz="2200" b="1" i="0">
                <a:solidFill>
                  <a:srgbClr val="0A0A0A"/>
                </a:solidFill>
                <a:latin typeface="Bricolage Grotesque"/>
              </a:rPr>
              <a:t>Maker</a:t>
            </a:r>
          </a:p>
        </p:txBody>
      </p:sp>
      <p:sp>
        <p:nvSpPr>
          <p:cNvPr id="10" name="TextBox 9"/>
          <p:cNvSpPr txBox="1"/>
          <p:nvPr/>
        </p:nvSpPr>
        <p:spPr>
          <a:xfrm>
            <a:off x="914400" y="4096512"/>
            <a:ext cx="3063240" cy="274320"/>
          </a:xfrm>
          <a:prstGeom prst="rect">
            <a:avLst/>
          </a:prstGeom>
          <a:noFill/>
        </p:spPr>
        <p:txBody>
          <a:bodyPr wrap="square" lIns="0" rIns="0" tIns="0" bIns="0" anchor="t">
            <a:spAutoFit/>
          </a:bodyPr>
          <a:lstStyle/>
          <a:p>
            <a:pPr algn="l">
              <a:lnSpc>
                <a:spcPct val="115000"/>
              </a:lnSpc>
            </a:pPr>
            <a:r>
              <a:rPr sz="1000" b="0" i="0">
                <a:solidFill>
                  <a:srgbClr val="6B6B6B"/>
                </a:solidFill>
                <a:latin typeface="Inter"/>
              </a:rPr>
              <a:t>subscription</a:t>
            </a:r>
          </a:p>
        </p:txBody>
      </p:sp>
      <p:sp>
        <p:nvSpPr>
          <p:cNvPr id="11" name="TextBox 10"/>
          <p:cNvSpPr txBox="1"/>
          <p:nvPr/>
        </p:nvSpPr>
        <p:spPr>
          <a:xfrm>
            <a:off x="914400" y="4343400"/>
            <a:ext cx="3063240" cy="411480"/>
          </a:xfrm>
          <a:prstGeom prst="rect">
            <a:avLst/>
          </a:prstGeom>
          <a:noFill/>
        </p:spPr>
        <p:txBody>
          <a:bodyPr wrap="square" lIns="0" rIns="0" tIns="0" bIns="0" anchor="t">
            <a:spAutoFit/>
          </a:bodyPr>
          <a:lstStyle/>
          <a:p>
            <a:pPr algn="l">
              <a:lnSpc>
                <a:spcPct val="115000"/>
              </a:lnSpc>
            </a:pPr>
            <a:r>
              <a:rPr sz="1800" b="1" i="0">
                <a:solidFill>
                  <a:srgbClr val="FF2E63"/>
                </a:solidFill>
                <a:latin typeface="Bricolage Grotesque"/>
              </a:rPr>
              <a:t>$0/mo</a:t>
            </a:r>
          </a:p>
        </p:txBody>
      </p:sp>
      <p:sp>
        <p:nvSpPr>
          <p:cNvPr id="12" name="TextBox 11"/>
          <p:cNvSpPr txBox="1"/>
          <p:nvPr/>
        </p:nvSpPr>
        <p:spPr>
          <a:xfrm>
            <a:off x="914400" y="4754880"/>
            <a:ext cx="3063240" cy="274320"/>
          </a:xfrm>
          <a:prstGeom prst="rect">
            <a:avLst/>
          </a:prstGeom>
          <a:noFill/>
        </p:spPr>
        <p:txBody>
          <a:bodyPr wrap="square" lIns="0" rIns="0" tIns="0" bIns="0" anchor="t">
            <a:spAutoFit/>
          </a:bodyPr>
          <a:lstStyle/>
          <a:p>
            <a:pPr algn="l">
              <a:lnSpc>
                <a:spcPct val="115000"/>
              </a:lnSpc>
            </a:pPr>
            <a:r>
              <a:rPr sz="1000" b="0" i="0">
                <a:solidFill>
                  <a:srgbClr val="6B6B6B"/>
                </a:solidFill>
                <a:latin typeface="Inter"/>
              </a:rPr>
              <a:t>production fee</a:t>
            </a:r>
          </a:p>
        </p:txBody>
      </p:sp>
      <p:sp>
        <p:nvSpPr>
          <p:cNvPr id="13" name="TextBox 12"/>
          <p:cNvSpPr txBox="1"/>
          <p:nvPr/>
        </p:nvSpPr>
        <p:spPr>
          <a:xfrm>
            <a:off x="914400" y="4983480"/>
            <a:ext cx="3063240" cy="411480"/>
          </a:xfrm>
          <a:prstGeom prst="rect">
            <a:avLst/>
          </a:prstGeom>
          <a:noFill/>
        </p:spPr>
        <p:txBody>
          <a:bodyPr wrap="square" lIns="0" rIns="0" tIns="0" bIns="0" anchor="t">
            <a:spAutoFit/>
          </a:bodyPr>
          <a:lstStyle/>
          <a:p>
            <a:pPr algn="l">
              <a:lnSpc>
                <a:spcPct val="115000"/>
              </a:lnSpc>
            </a:pPr>
            <a:r>
              <a:rPr sz="1800" b="1" i="0">
                <a:solidFill>
                  <a:srgbClr val="0A0A0A"/>
                </a:solidFill>
                <a:latin typeface="Bricolage Grotesque"/>
              </a:rPr>
              <a:t>15%</a:t>
            </a:r>
          </a:p>
        </p:txBody>
      </p:sp>
      <p:sp>
        <p:nvSpPr>
          <p:cNvPr id="14" name="TextBox 13"/>
          <p:cNvSpPr txBox="1"/>
          <p:nvPr/>
        </p:nvSpPr>
        <p:spPr>
          <a:xfrm>
            <a:off x="914400" y="5394960"/>
            <a:ext cx="3063240" cy="365760"/>
          </a:xfrm>
          <a:prstGeom prst="rect">
            <a:avLst/>
          </a:prstGeom>
          <a:noFill/>
        </p:spPr>
        <p:txBody>
          <a:bodyPr wrap="square" lIns="0" rIns="0" tIns="0" bIns="0" anchor="t">
            <a:spAutoFit/>
          </a:bodyPr>
          <a:lstStyle/>
          <a:p>
            <a:pPr algn="l">
              <a:lnSpc>
                <a:spcPct val="125000"/>
              </a:lnSpc>
            </a:pPr>
            <a:r>
              <a:rPr sz="1000" b="0" i="0">
                <a:solidFill>
                  <a:srgbClr val="2B2B2B"/>
                </a:solidFill>
                <a:latin typeface="Inter"/>
              </a:rPr>
              <a:t>Free entry. Unlimited products. Pays platform fee per order.</a:t>
            </a:r>
          </a:p>
        </p:txBody>
      </p:sp>
      <p:sp>
        <p:nvSpPr>
          <p:cNvPr id="15" name="Rounded Rectangle 14"/>
          <p:cNvSpPr/>
          <p:nvPr/>
        </p:nvSpPr>
        <p:spPr>
          <a:xfrm>
            <a:off x="4434840" y="3383280"/>
            <a:ext cx="3611880" cy="2423160"/>
          </a:xfrm>
          <a:prstGeom prst="roundRect">
            <a:avLst/>
          </a:prstGeom>
          <a:solidFill>
            <a:srgbClr val="FFFFFF"/>
          </a:solidFill>
          <a:ln w="9525">
            <a:solidFill>
              <a:srgbClr val="C9C4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709160" y="3767328"/>
            <a:ext cx="146304" cy="146304"/>
          </a:xfrm>
          <a:prstGeom prst="ellipse">
            <a:avLst/>
          </a:prstGeom>
          <a:solidFill>
            <a:srgbClr val="FF2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937760" y="3611880"/>
            <a:ext cx="2834640" cy="457200"/>
          </a:xfrm>
          <a:prstGeom prst="rect">
            <a:avLst/>
          </a:prstGeom>
          <a:noFill/>
        </p:spPr>
        <p:txBody>
          <a:bodyPr wrap="square" lIns="0" rIns="0" tIns="0" bIns="0" anchor="t">
            <a:spAutoFit/>
          </a:bodyPr>
          <a:lstStyle/>
          <a:p>
            <a:pPr algn="l">
              <a:lnSpc>
                <a:spcPct val="115000"/>
              </a:lnSpc>
            </a:pPr>
            <a:r>
              <a:rPr sz="2200" b="1" i="0">
                <a:solidFill>
                  <a:srgbClr val="0A0A0A"/>
                </a:solidFill>
                <a:latin typeface="Bricolage Grotesque"/>
              </a:rPr>
              <a:t>Builder</a:t>
            </a:r>
          </a:p>
        </p:txBody>
      </p:sp>
      <p:sp>
        <p:nvSpPr>
          <p:cNvPr id="18" name="TextBox 17"/>
          <p:cNvSpPr txBox="1"/>
          <p:nvPr/>
        </p:nvSpPr>
        <p:spPr>
          <a:xfrm>
            <a:off x="4709160" y="4096512"/>
            <a:ext cx="3063240" cy="274320"/>
          </a:xfrm>
          <a:prstGeom prst="rect">
            <a:avLst/>
          </a:prstGeom>
          <a:noFill/>
        </p:spPr>
        <p:txBody>
          <a:bodyPr wrap="square" lIns="0" rIns="0" tIns="0" bIns="0" anchor="t">
            <a:spAutoFit/>
          </a:bodyPr>
          <a:lstStyle/>
          <a:p>
            <a:pPr algn="l">
              <a:lnSpc>
                <a:spcPct val="115000"/>
              </a:lnSpc>
            </a:pPr>
            <a:r>
              <a:rPr sz="1000" b="0" i="0">
                <a:solidFill>
                  <a:srgbClr val="6B6B6B"/>
                </a:solidFill>
                <a:latin typeface="Inter"/>
              </a:rPr>
              <a:t>subscription</a:t>
            </a:r>
          </a:p>
        </p:txBody>
      </p:sp>
      <p:sp>
        <p:nvSpPr>
          <p:cNvPr id="19" name="TextBox 18"/>
          <p:cNvSpPr txBox="1"/>
          <p:nvPr/>
        </p:nvSpPr>
        <p:spPr>
          <a:xfrm>
            <a:off x="4709160" y="4343400"/>
            <a:ext cx="3063240" cy="411480"/>
          </a:xfrm>
          <a:prstGeom prst="rect">
            <a:avLst/>
          </a:prstGeom>
          <a:noFill/>
        </p:spPr>
        <p:txBody>
          <a:bodyPr wrap="square" lIns="0" rIns="0" tIns="0" bIns="0" anchor="t">
            <a:spAutoFit/>
          </a:bodyPr>
          <a:lstStyle/>
          <a:p>
            <a:pPr algn="l">
              <a:lnSpc>
                <a:spcPct val="115000"/>
              </a:lnSpc>
            </a:pPr>
            <a:r>
              <a:rPr sz="1800" b="1" i="0">
                <a:solidFill>
                  <a:srgbClr val="FF2E63"/>
                </a:solidFill>
                <a:latin typeface="Bricolage Grotesque"/>
              </a:rPr>
              <a:t>$49–99/mo*</a:t>
            </a:r>
          </a:p>
        </p:txBody>
      </p:sp>
      <p:sp>
        <p:nvSpPr>
          <p:cNvPr id="20" name="TextBox 19"/>
          <p:cNvSpPr txBox="1"/>
          <p:nvPr/>
        </p:nvSpPr>
        <p:spPr>
          <a:xfrm>
            <a:off x="4709160" y="4754880"/>
            <a:ext cx="3063240" cy="274320"/>
          </a:xfrm>
          <a:prstGeom prst="rect">
            <a:avLst/>
          </a:prstGeom>
          <a:noFill/>
        </p:spPr>
        <p:txBody>
          <a:bodyPr wrap="square" lIns="0" rIns="0" tIns="0" bIns="0" anchor="t">
            <a:spAutoFit/>
          </a:bodyPr>
          <a:lstStyle/>
          <a:p>
            <a:pPr algn="l">
              <a:lnSpc>
                <a:spcPct val="115000"/>
              </a:lnSpc>
            </a:pPr>
            <a:r>
              <a:rPr sz="1000" b="0" i="0">
                <a:solidFill>
                  <a:srgbClr val="6B6B6B"/>
                </a:solidFill>
                <a:latin typeface="Inter"/>
              </a:rPr>
              <a:t>production fee</a:t>
            </a:r>
          </a:p>
        </p:txBody>
      </p:sp>
      <p:sp>
        <p:nvSpPr>
          <p:cNvPr id="21" name="TextBox 20"/>
          <p:cNvSpPr txBox="1"/>
          <p:nvPr/>
        </p:nvSpPr>
        <p:spPr>
          <a:xfrm>
            <a:off x="4709160" y="4983480"/>
            <a:ext cx="3063240" cy="411480"/>
          </a:xfrm>
          <a:prstGeom prst="rect">
            <a:avLst/>
          </a:prstGeom>
          <a:noFill/>
        </p:spPr>
        <p:txBody>
          <a:bodyPr wrap="square" lIns="0" rIns="0" tIns="0" bIns="0" anchor="t">
            <a:spAutoFit/>
          </a:bodyPr>
          <a:lstStyle/>
          <a:p>
            <a:pPr algn="l">
              <a:lnSpc>
                <a:spcPct val="115000"/>
              </a:lnSpc>
            </a:pPr>
            <a:r>
              <a:rPr sz="1800" b="1" i="0">
                <a:solidFill>
                  <a:srgbClr val="0A0A0A"/>
                </a:solidFill>
                <a:latin typeface="Bricolage Grotesque"/>
              </a:rPr>
              <a:t>12%</a:t>
            </a:r>
          </a:p>
        </p:txBody>
      </p:sp>
      <p:sp>
        <p:nvSpPr>
          <p:cNvPr id="22" name="TextBox 21"/>
          <p:cNvSpPr txBox="1"/>
          <p:nvPr/>
        </p:nvSpPr>
        <p:spPr>
          <a:xfrm>
            <a:off x="4709160" y="5394960"/>
            <a:ext cx="3063240" cy="365760"/>
          </a:xfrm>
          <a:prstGeom prst="rect">
            <a:avLst/>
          </a:prstGeom>
          <a:noFill/>
        </p:spPr>
        <p:txBody>
          <a:bodyPr wrap="square" lIns="0" rIns="0" tIns="0" bIns="0" anchor="t">
            <a:spAutoFit/>
          </a:bodyPr>
          <a:lstStyle/>
          <a:p>
            <a:pPr algn="l">
              <a:lnSpc>
                <a:spcPct val="125000"/>
              </a:lnSpc>
            </a:pPr>
            <a:r>
              <a:rPr sz="1000" b="0" i="0">
                <a:solidFill>
                  <a:srgbClr val="2B2B2B"/>
                </a:solidFill>
                <a:latin typeface="Inter"/>
              </a:rPr>
              <a:t>AI design tools. Subscribe &amp; save. Lower per-order fee.</a:t>
            </a:r>
          </a:p>
        </p:txBody>
      </p:sp>
      <p:sp>
        <p:nvSpPr>
          <p:cNvPr id="23" name="Rounded Rectangle 22"/>
          <p:cNvSpPr/>
          <p:nvPr/>
        </p:nvSpPr>
        <p:spPr>
          <a:xfrm>
            <a:off x="8229600" y="3383280"/>
            <a:ext cx="3611880" cy="2423160"/>
          </a:xfrm>
          <a:prstGeom prst="roundRect">
            <a:avLst/>
          </a:prstGeom>
          <a:solidFill>
            <a:srgbClr val="FFFFFF"/>
          </a:solidFill>
          <a:ln w="9525">
            <a:solidFill>
              <a:srgbClr val="C9C4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503920" y="3767328"/>
            <a:ext cx="146304" cy="146304"/>
          </a:xfrm>
          <a:prstGeom prst="ellipse">
            <a:avLst/>
          </a:prstGeom>
          <a:solidFill>
            <a:srgbClr val="FF2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732520" y="3611880"/>
            <a:ext cx="2834640" cy="457200"/>
          </a:xfrm>
          <a:prstGeom prst="rect">
            <a:avLst/>
          </a:prstGeom>
          <a:noFill/>
        </p:spPr>
        <p:txBody>
          <a:bodyPr wrap="square" lIns="0" rIns="0" tIns="0" bIns="0" anchor="t">
            <a:spAutoFit/>
          </a:bodyPr>
          <a:lstStyle/>
          <a:p>
            <a:pPr algn="l">
              <a:lnSpc>
                <a:spcPct val="115000"/>
              </a:lnSpc>
            </a:pPr>
            <a:r>
              <a:rPr sz="2200" b="1" i="0">
                <a:solidFill>
                  <a:srgbClr val="0A0A0A"/>
                </a:solidFill>
                <a:latin typeface="Bricolage Grotesque"/>
              </a:rPr>
              <a:t>Agency</a:t>
            </a:r>
          </a:p>
        </p:txBody>
      </p:sp>
      <p:sp>
        <p:nvSpPr>
          <p:cNvPr id="26" name="TextBox 25"/>
          <p:cNvSpPr txBox="1"/>
          <p:nvPr/>
        </p:nvSpPr>
        <p:spPr>
          <a:xfrm>
            <a:off x="8503920" y="4096512"/>
            <a:ext cx="3063240" cy="274320"/>
          </a:xfrm>
          <a:prstGeom prst="rect">
            <a:avLst/>
          </a:prstGeom>
          <a:noFill/>
        </p:spPr>
        <p:txBody>
          <a:bodyPr wrap="square" lIns="0" rIns="0" tIns="0" bIns="0" anchor="t">
            <a:spAutoFit/>
          </a:bodyPr>
          <a:lstStyle/>
          <a:p>
            <a:pPr algn="l">
              <a:lnSpc>
                <a:spcPct val="115000"/>
              </a:lnSpc>
            </a:pPr>
            <a:r>
              <a:rPr sz="1000" b="0" i="0">
                <a:solidFill>
                  <a:srgbClr val="6B6B6B"/>
                </a:solidFill>
                <a:latin typeface="Inter"/>
              </a:rPr>
              <a:t>subscription</a:t>
            </a:r>
          </a:p>
        </p:txBody>
      </p:sp>
      <p:sp>
        <p:nvSpPr>
          <p:cNvPr id="27" name="TextBox 26"/>
          <p:cNvSpPr txBox="1"/>
          <p:nvPr/>
        </p:nvSpPr>
        <p:spPr>
          <a:xfrm>
            <a:off x="8503920" y="4343400"/>
            <a:ext cx="3063240" cy="411480"/>
          </a:xfrm>
          <a:prstGeom prst="rect">
            <a:avLst/>
          </a:prstGeom>
          <a:noFill/>
        </p:spPr>
        <p:txBody>
          <a:bodyPr wrap="square" lIns="0" rIns="0" tIns="0" bIns="0" anchor="t">
            <a:spAutoFit/>
          </a:bodyPr>
          <a:lstStyle/>
          <a:p>
            <a:pPr algn="l">
              <a:lnSpc>
                <a:spcPct val="115000"/>
              </a:lnSpc>
            </a:pPr>
            <a:r>
              <a:rPr sz="1800" b="1" i="0">
                <a:solidFill>
                  <a:srgbClr val="FF2E63"/>
                </a:solidFill>
                <a:latin typeface="Bricolage Grotesque"/>
              </a:rPr>
              <a:t>$199–299/mo*</a:t>
            </a:r>
          </a:p>
        </p:txBody>
      </p:sp>
      <p:sp>
        <p:nvSpPr>
          <p:cNvPr id="28" name="TextBox 27"/>
          <p:cNvSpPr txBox="1"/>
          <p:nvPr/>
        </p:nvSpPr>
        <p:spPr>
          <a:xfrm>
            <a:off x="8503920" y="4754880"/>
            <a:ext cx="3063240" cy="274320"/>
          </a:xfrm>
          <a:prstGeom prst="rect">
            <a:avLst/>
          </a:prstGeom>
          <a:noFill/>
        </p:spPr>
        <p:txBody>
          <a:bodyPr wrap="square" lIns="0" rIns="0" tIns="0" bIns="0" anchor="t">
            <a:spAutoFit/>
          </a:bodyPr>
          <a:lstStyle/>
          <a:p>
            <a:pPr algn="l">
              <a:lnSpc>
                <a:spcPct val="115000"/>
              </a:lnSpc>
            </a:pPr>
            <a:r>
              <a:rPr sz="1000" b="0" i="0">
                <a:solidFill>
                  <a:srgbClr val="6B6B6B"/>
                </a:solidFill>
                <a:latin typeface="Inter"/>
              </a:rPr>
              <a:t>production fee</a:t>
            </a:r>
          </a:p>
        </p:txBody>
      </p:sp>
      <p:sp>
        <p:nvSpPr>
          <p:cNvPr id="29" name="TextBox 28"/>
          <p:cNvSpPr txBox="1"/>
          <p:nvPr/>
        </p:nvSpPr>
        <p:spPr>
          <a:xfrm>
            <a:off x="8503920" y="4983480"/>
            <a:ext cx="3063240" cy="411480"/>
          </a:xfrm>
          <a:prstGeom prst="rect">
            <a:avLst/>
          </a:prstGeom>
          <a:noFill/>
        </p:spPr>
        <p:txBody>
          <a:bodyPr wrap="square" lIns="0" rIns="0" tIns="0" bIns="0" anchor="t">
            <a:spAutoFit/>
          </a:bodyPr>
          <a:lstStyle/>
          <a:p>
            <a:pPr algn="l">
              <a:lnSpc>
                <a:spcPct val="115000"/>
              </a:lnSpc>
            </a:pPr>
            <a:r>
              <a:rPr sz="1800" b="1" i="0">
                <a:solidFill>
                  <a:srgbClr val="0A0A0A"/>
                </a:solidFill>
                <a:latin typeface="Bricolage Grotesque"/>
              </a:rPr>
              <a:t>9%</a:t>
            </a:r>
          </a:p>
        </p:txBody>
      </p:sp>
      <p:sp>
        <p:nvSpPr>
          <p:cNvPr id="30" name="TextBox 29"/>
          <p:cNvSpPr txBox="1"/>
          <p:nvPr/>
        </p:nvSpPr>
        <p:spPr>
          <a:xfrm>
            <a:off x="8503920" y="5394960"/>
            <a:ext cx="3063240" cy="365760"/>
          </a:xfrm>
          <a:prstGeom prst="rect">
            <a:avLst/>
          </a:prstGeom>
          <a:noFill/>
        </p:spPr>
        <p:txBody>
          <a:bodyPr wrap="square" lIns="0" rIns="0" tIns="0" bIns="0" anchor="t">
            <a:spAutoFit/>
          </a:bodyPr>
          <a:lstStyle/>
          <a:p>
            <a:pPr algn="l">
              <a:lnSpc>
                <a:spcPct val="125000"/>
              </a:lnSpc>
            </a:pPr>
            <a:r>
              <a:rPr sz="1000" b="0" i="0">
                <a:solidFill>
                  <a:srgbClr val="2B2B2B"/>
                </a:solidFill>
                <a:latin typeface="Inter"/>
              </a:rPr>
              <a:t>Bulk-pricing visibility. Premier partner pool. Sales-touched.</a:t>
            </a:r>
          </a:p>
        </p:txBody>
      </p:sp>
      <p:sp>
        <p:nvSpPr>
          <p:cNvPr id="31" name="TextBox 30"/>
          <p:cNvSpPr txBox="1"/>
          <p:nvPr/>
        </p:nvSpPr>
        <p:spPr>
          <a:xfrm>
            <a:off x="640080" y="5989320"/>
            <a:ext cx="731520" cy="320040"/>
          </a:xfrm>
          <a:prstGeom prst="rect">
            <a:avLst/>
          </a:prstGeom>
          <a:noFill/>
        </p:spPr>
        <p:txBody>
          <a:bodyPr wrap="square" lIns="0" rIns="0" tIns="0" bIns="0" anchor="t">
            <a:spAutoFit/>
          </a:bodyPr>
          <a:lstStyle/>
          <a:p>
            <a:pPr algn="l">
              <a:lnSpc>
                <a:spcPct val="115000"/>
              </a:lnSpc>
            </a:pPr>
            <a:r>
              <a:rPr sz="1100" b="0" i="0">
                <a:solidFill>
                  <a:srgbClr val="6B6B6B"/>
                </a:solidFill>
                <a:latin typeface="Inter"/>
              </a:rPr>
              <a:t>Plus:</a:t>
            </a:r>
          </a:p>
        </p:txBody>
      </p:sp>
      <p:sp>
        <p:nvSpPr>
          <p:cNvPr id="32" name="TextBox 31"/>
          <p:cNvSpPr txBox="1"/>
          <p:nvPr/>
        </p:nvSpPr>
        <p:spPr>
          <a:xfrm>
            <a:off x="1280160" y="5989320"/>
            <a:ext cx="10424160" cy="365760"/>
          </a:xfrm>
          <a:prstGeom prst="rect">
            <a:avLst/>
          </a:prstGeom>
          <a:noFill/>
        </p:spPr>
        <p:txBody>
          <a:bodyPr wrap="square" lIns="0" rIns="0" tIns="0" bIns="0" anchor="t">
            <a:spAutoFit/>
          </a:bodyPr>
          <a:lstStyle/>
          <a:p>
            <a:pPr algn="l">
              <a:lnSpc>
                <a:spcPct val="120000"/>
              </a:lnSpc>
            </a:pPr>
            <a:r>
              <a:rPr sz="1150" b="1" i="0">
                <a:solidFill>
                  <a:srgbClr val="0A0A0A"/>
                </a:solidFill>
                <a:latin typeface="Inter"/>
              </a:rPr>
              <a:t>Marketplace commission </a:t>
            </a:r>
            <a:r>
              <a:rPr sz="1150" b="0" i="0">
                <a:solidFill>
                  <a:srgbClr val="2B2B2B"/>
                </a:solidFill>
                <a:latin typeface="Inter"/>
              </a:rPr>
              <a:t>on partner payouts (15% / 12% / 8% by partner tier) · </a:t>
            </a:r>
            <a:r>
              <a:rPr sz="1150" b="1" i="0">
                <a:solidFill>
                  <a:srgbClr val="0A0A0A"/>
                </a:solidFill>
                <a:latin typeface="Inter"/>
              </a:rPr>
              <a:t>Subscribe &amp; Save </a:t>
            </a:r>
            <a:r>
              <a:rPr sz="1150" b="0" i="0">
                <a:solidFill>
                  <a:srgbClr val="2B2B2B"/>
                </a:solidFill>
                <a:latin typeface="Inter"/>
              </a:rPr>
              <a:t>recurring production for reorders.</a:t>
            </a:r>
          </a:p>
        </p:txBody>
      </p:sp>
      <p:sp>
        <p:nvSpPr>
          <p:cNvPr id="33" name="TextBox 32"/>
          <p:cNvSpPr txBox="1"/>
          <p:nvPr/>
        </p:nvSpPr>
        <p:spPr>
          <a:xfrm>
            <a:off x="640080" y="6400800"/>
            <a:ext cx="11155680" cy="274320"/>
          </a:xfrm>
          <a:prstGeom prst="rect">
            <a:avLst/>
          </a:prstGeom>
          <a:noFill/>
        </p:spPr>
        <p:txBody>
          <a:bodyPr wrap="square" lIns="0" rIns="0" tIns="0" bIns="0" anchor="t">
            <a:spAutoFit/>
          </a:bodyPr>
          <a:lstStyle/>
          <a:p>
            <a:pPr algn="l">
              <a:lnSpc>
                <a:spcPct val="115000"/>
              </a:lnSpc>
            </a:pPr>
            <a:r>
              <a:rPr sz="850" b="0" i="1">
                <a:solidFill>
                  <a:srgbClr val="6B6B6B"/>
                </a:solidFill>
                <a:latin typeface="Inter"/>
              </a:rPr>
              <a:t>* Builder/Agency monthly price within published bands per PLATFORM_SPEC.md. Annual plans give ~2 months free.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640080" y="621792"/>
            <a:ext cx="164592" cy="164592"/>
          </a:xfrm>
          <a:prstGeom prst="ellipse">
            <a:avLst/>
          </a:prstGeom>
          <a:solidFill>
            <a:srgbClr val="B5FF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96112" y="457200"/>
            <a:ext cx="2286000" cy="457200"/>
          </a:xfrm>
          <a:prstGeom prst="rect">
            <a:avLst/>
          </a:prstGeom>
          <a:noFill/>
        </p:spPr>
        <p:txBody>
          <a:bodyPr wrap="square" lIns="0" rIns="0" tIns="0" bIns="0" anchor="t">
            <a:spAutoFit/>
          </a:bodyPr>
          <a:lstStyle/>
          <a:p>
            <a:pPr algn="l">
              <a:lnSpc>
                <a:spcPct val="115000"/>
              </a:lnSpc>
            </a:pPr>
            <a:r>
              <a:rPr sz="2000" b="1" i="0">
                <a:solidFill>
                  <a:srgbClr val="FFFFFF"/>
                </a:solidFill>
                <a:latin typeface="Bricolage Grotesque"/>
              </a:rPr>
              <a:t>iLaunchify</a:t>
            </a:r>
          </a:p>
        </p:txBody>
      </p:sp>
      <p:sp>
        <p:nvSpPr>
          <p:cNvPr id="5" name="Rounded Rectangle 4"/>
          <p:cNvSpPr/>
          <p:nvPr/>
        </p:nvSpPr>
        <p:spPr>
          <a:xfrm>
            <a:off x="640080" y="1097280"/>
            <a:ext cx="1371600" cy="329184"/>
          </a:xfrm>
          <a:prstGeom prst="roundRect">
            <a:avLst>
              <a:gd name="adj" fmla="val 50000"/>
            </a:avLst>
          </a:prstGeom>
          <a:solidFill>
            <a:srgbClr val="B5FF3D"/>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rIns="164592" tIns="36576" bIns="36576" wrap="none"/>
          <a:lstStyle/>
          <a:p>
            <a:pPr algn="ctr"/>
            <a:r>
              <a:rPr sz="1000" b="1">
                <a:solidFill>
                  <a:srgbClr val="0A0A0A"/>
                </a:solidFill>
                <a:latin typeface="Inter"/>
              </a:rPr>
              <a:t>07 · BETA PLAN</a:t>
            </a:r>
          </a:p>
        </p:txBody>
      </p:sp>
      <p:sp>
        <p:nvSpPr>
          <p:cNvPr id="6" name="TextBox 5"/>
          <p:cNvSpPr txBox="1"/>
          <p:nvPr/>
        </p:nvSpPr>
        <p:spPr>
          <a:xfrm>
            <a:off x="640080" y="1600200"/>
            <a:ext cx="10972800" cy="1554480"/>
          </a:xfrm>
          <a:prstGeom prst="rect">
            <a:avLst/>
          </a:prstGeom>
          <a:noFill/>
        </p:spPr>
        <p:txBody>
          <a:bodyPr wrap="square" lIns="0" rIns="0" tIns="0" bIns="0" anchor="t">
            <a:spAutoFit/>
          </a:bodyPr>
          <a:lstStyle/>
          <a:p>
            <a:pPr algn="l">
              <a:lnSpc>
                <a:spcPct val="110000"/>
              </a:lnSpc>
            </a:pPr>
            <a:r>
              <a:rPr sz="3200" b="1" i="0">
                <a:solidFill>
                  <a:srgbClr val="FFFFFF"/>
                </a:solidFill>
                <a:latin typeface="Bricolage Grotesque"/>
              </a:rPr>
              <a:t>We built the platform on our own.</a:t>
            </a:r>
          </a:p>
          <a:p>
            <a:pPr algn="l">
              <a:lnSpc>
                <a:spcPct val="110000"/>
              </a:lnSpc>
            </a:pPr>
            <a:r>
              <a:rPr sz="3200" b="1" i="0">
                <a:solidFill>
                  <a:srgbClr val="FFFFFF"/>
                </a:solidFill>
                <a:latin typeface="Bricolage Grotesque"/>
              </a:rPr>
              <a:t>We're raising to scale what works.</a:t>
            </a:r>
          </a:p>
        </p:txBody>
      </p:sp>
      <p:sp>
        <p:nvSpPr>
          <p:cNvPr id="7" name="Rounded Rectangle 6"/>
          <p:cNvSpPr/>
          <p:nvPr/>
        </p:nvSpPr>
        <p:spPr>
          <a:xfrm>
            <a:off x="640080" y="3520440"/>
            <a:ext cx="2423160" cy="1280160"/>
          </a:xfrm>
          <a:prstGeom prst="roundRect">
            <a:avLst/>
          </a:prstGeom>
          <a:solidFill>
            <a:srgbClr val="161616"/>
          </a:solidFill>
          <a:ln w="6350">
            <a:solidFill>
              <a:srgbClr val="2A2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3685032"/>
            <a:ext cx="1965960" cy="640080"/>
          </a:xfrm>
          <a:prstGeom prst="rect">
            <a:avLst/>
          </a:prstGeom>
          <a:noFill/>
        </p:spPr>
        <p:txBody>
          <a:bodyPr wrap="square" lIns="0" rIns="0" tIns="0" bIns="0" anchor="t">
            <a:spAutoFit/>
          </a:bodyPr>
          <a:lstStyle/>
          <a:p>
            <a:pPr algn="l">
              <a:lnSpc>
                <a:spcPct val="115000"/>
              </a:lnSpc>
            </a:pPr>
            <a:r>
              <a:rPr sz="3600" b="1" i="0">
                <a:solidFill>
                  <a:srgbClr val="B5FF3D"/>
                </a:solidFill>
                <a:latin typeface="Bricolage Grotesque"/>
              </a:rPr>
              <a:t>5–8</a:t>
            </a:r>
          </a:p>
        </p:txBody>
      </p:sp>
      <p:sp>
        <p:nvSpPr>
          <p:cNvPr id="9" name="TextBox 8"/>
          <p:cNvSpPr txBox="1"/>
          <p:nvPr/>
        </p:nvSpPr>
        <p:spPr>
          <a:xfrm>
            <a:off x="868680" y="4343400"/>
            <a:ext cx="1965960" cy="365760"/>
          </a:xfrm>
          <a:prstGeom prst="rect">
            <a:avLst/>
          </a:prstGeom>
          <a:noFill/>
        </p:spPr>
        <p:txBody>
          <a:bodyPr wrap="square" lIns="0" rIns="0" tIns="0" bIns="0" anchor="t">
            <a:spAutoFit/>
          </a:bodyPr>
          <a:lstStyle/>
          <a:p>
            <a:pPr algn="l">
              <a:lnSpc>
                <a:spcPct val="115000"/>
              </a:lnSpc>
            </a:pPr>
            <a:r>
              <a:rPr sz="1200" b="0" i="0">
                <a:solidFill>
                  <a:srgbClr val="FFFFFF"/>
                </a:solidFill>
                <a:latin typeface="Inter"/>
              </a:rPr>
              <a:t>creators</a:t>
            </a:r>
          </a:p>
        </p:txBody>
      </p:sp>
      <p:sp>
        <p:nvSpPr>
          <p:cNvPr id="10" name="Rounded Rectangle 9"/>
          <p:cNvSpPr/>
          <p:nvPr/>
        </p:nvSpPr>
        <p:spPr>
          <a:xfrm>
            <a:off x="3227832" y="3520440"/>
            <a:ext cx="2423160" cy="1280160"/>
          </a:xfrm>
          <a:prstGeom prst="roundRect">
            <a:avLst/>
          </a:prstGeom>
          <a:solidFill>
            <a:srgbClr val="161616"/>
          </a:solidFill>
          <a:ln w="6350">
            <a:solidFill>
              <a:srgbClr val="2A2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56432" y="3685032"/>
            <a:ext cx="1965960" cy="640080"/>
          </a:xfrm>
          <a:prstGeom prst="rect">
            <a:avLst/>
          </a:prstGeom>
          <a:noFill/>
        </p:spPr>
        <p:txBody>
          <a:bodyPr wrap="square" lIns="0" rIns="0" tIns="0" bIns="0" anchor="t">
            <a:spAutoFit/>
          </a:bodyPr>
          <a:lstStyle/>
          <a:p>
            <a:pPr algn="l">
              <a:lnSpc>
                <a:spcPct val="115000"/>
              </a:lnSpc>
            </a:pPr>
            <a:r>
              <a:rPr sz="3600" b="1" i="0">
                <a:solidFill>
                  <a:srgbClr val="B5FF3D"/>
                </a:solidFill>
                <a:latin typeface="Bricolage Grotesque"/>
              </a:rPr>
              <a:t>4–6</a:t>
            </a:r>
          </a:p>
        </p:txBody>
      </p:sp>
      <p:sp>
        <p:nvSpPr>
          <p:cNvPr id="12" name="TextBox 11"/>
          <p:cNvSpPr txBox="1"/>
          <p:nvPr/>
        </p:nvSpPr>
        <p:spPr>
          <a:xfrm>
            <a:off x="3456432" y="4343400"/>
            <a:ext cx="1965960" cy="365760"/>
          </a:xfrm>
          <a:prstGeom prst="rect">
            <a:avLst/>
          </a:prstGeom>
          <a:noFill/>
        </p:spPr>
        <p:txBody>
          <a:bodyPr wrap="square" lIns="0" rIns="0" tIns="0" bIns="0" anchor="t">
            <a:spAutoFit/>
          </a:bodyPr>
          <a:lstStyle/>
          <a:p>
            <a:pPr algn="l">
              <a:lnSpc>
                <a:spcPct val="115000"/>
              </a:lnSpc>
            </a:pPr>
            <a:r>
              <a:rPr sz="1200" b="0" i="0">
                <a:solidFill>
                  <a:srgbClr val="FFFFFF"/>
                </a:solidFill>
                <a:latin typeface="Inter"/>
              </a:rPr>
              <a:t>partners</a:t>
            </a:r>
          </a:p>
        </p:txBody>
      </p:sp>
      <p:sp>
        <p:nvSpPr>
          <p:cNvPr id="13" name="Rounded Rectangle 12"/>
          <p:cNvSpPr/>
          <p:nvPr/>
        </p:nvSpPr>
        <p:spPr>
          <a:xfrm>
            <a:off x="640080" y="4965192"/>
            <a:ext cx="2423160" cy="1280160"/>
          </a:xfrm>
          <a:prstGeom prst="roundRect">
            <a:avLst/>
          </a:prstGeom>
          <a:solidFill>
            <a:srgbClr val="161616"/>
          </a:solidFill>
          <a:ln w="6350">
            <a:solidFill>
              <a:srgbClr val="2A2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5129784"/>
            <a:ext cx="1965960" cy="640080"/>
          </a:xfrm>
          <a:prstGeom prst="rect">
            <a:avLst/>
          </a:prstGeom>
          <a:noFill/>
        </p:spPr>
        <p:txBody>
          <a:bodyPr wrap="square" lIns="0" rIns="0" tIns="0" bIns="0" anchor="t">
            <a:spAutoFit/>
          </a:bodyPr>
          <a:lstStyle/>
          <a:p>
            <a:pPr algn="l">
              <a:lnSpc>
                <a:spcPct val="115000"/>
              </a:lnSpc>
            </a:pPr>
            <a:r>
              <a:rPr sz="3600" b="1" i="0">
                <a:solidFill>
                  <a:srgbClr val="B5FF3D"/>
                </a:solidFill>
                <a:latin typeface="Bricolage Grotesque"/>
              </a:rPr>
              <a:t>90</a:t>
            </a:r>
          </a:p>
        </p:txBody>
      </p:sp>
      <p:sp>
        <p:nvSpPr>
          <p:cNvPr id="15" name="TextBox 14"/>
          <p:cNvSpPr txBox="1"/>
          <p:nvPr/>
        </p:nvSpPr>
        <p:spPr>
          <a:xfrm>
            <a:off x="868680" y="5788152"/>
            <a:ext cx="1965960" cy="365760"/>
          </a:xfrm>
          <a:prstGeom prst="rect">
            <a:avLst/>
          </a:prstGeom>
          <a:noFill/>
        </p:spPr>
        <p:txBody>
          <a:bodyPr wrap="square" lIns="0" rIns="0" tIns="0" bIns="0" anchor="t">
            <a:spAutoFit/>
          </a:bodyPr>
          <a:lstStyle/>
          <a:p>
            <a:pPr algn="l">
              <a:lnSpc>
                <a:spcPct val="115000"/>
              </a:lnSpc>
            </a:pPr>
            <a:r>
              <a:rPr sz="1200" b="0" i="0">
                <a:solidFill>
                  <a:srgbClr val="FFFFFF"/>
                </a:solidFill>
                <a:latin typeface="Inter"/>
              </a:rPr>
              <a:t>days</a:t>
            </a:r>
          </a:p>
        </p:txBody>
      </p:sp>
      <p:sp>
        <p:nvSpPr>
          <p:cNvPr id="16" name="Rounded Rectangle 15"/>
          <p:cNvSpPr/>
          <p:nvPr/>
        </p:nvSpPr>
        <p:spPr>
          <a:xfrm>
            <a:off x="3227832" y="4965192"/>
            <a:ext cx="2423160" cy="1280160"/>
          </a:xfrm>
          <a:prstGeom prst="roundRect">
            <a:avLst/>
          </a:prstGeom>
          <a:solidFill>
            <a:srgbClr val="161616"/>
          </a:solidFill>
          <a:ln w="6350">
            <a:solidFill>
              <a:srgbClr val="2A2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456432" y="5129784"/>
            <a:ext cx="1965960" cy="640080"/>
          </a:xfrm>
          <a:prstGeom prst="rect">
            <a:avLst/>
          </a:prstGeom>
          <a:noFill/>
        </p:spPr>
        <p:txBody>
          <a:bodyPr wrap="square" lIns="0" rIns="0" tIns="0" bIns="0" anchor="t">
            <a:spAutoFit/>
          </a:bodyPr>
          <a:lstStyle/>
          <a:p>
            <a:pPr algn="l">
              <a:lnSpc>
                <a:spcPct val="115000"/>
              </a:lnSpc>
            </a:pPr>
            <a:r>
              <a:rPr sz="3600" b="1" i="0">
                <a:solidFill>
                  <a:srgbClr val="B5FF3D"/>
                </a:solidFill>
                <a:latin typeface="Bricolage Grotesque"/>
              </a:rPr>
              <a:t>0%</a:t>
            </a:r>
          </a:p>
        </p:txBody>
      </p:sp>
      <p:sp>
        <p:nvSpPr>
          <p:cNvPr id="18" name="TextBox 17"/>
          <p:cNvSpPr txBox="1"/>
          <p:nvPr/>
        </p:nvSpPr>
        <p:spPr>
          <a:xfrm>
            <a:off x="3456432" y="5788152"/>
            <a:ext cx="1965960" cy="365760"/>
          </a:xfrm>
          <a:prstGeom prst="rect">
            <a:avLst/>
          </a:prstGeom>
          <a:noFill/>
        </p:spPr>
        <p:txBody>
          <a:bodyPr wrap="square" lIns="0" rIns="0" tIns="0" bIns="0" anchor="t">
            <a:spAutoFit/>
          </a:bodyPr>
          <a:lstStyle/>
          <a:p>
            <a:pPr algn="l">
              <a:lnSpc>
                <a:spcPct val="115000"/>
              </a:lnSpc>
            </a:pPr>
            <a:r>
              <a:rPr sz="1200" b="0" i="0">
                <a:solidFill>
                  <a:srgbClr val="FFFFFF"/>
                </a:solidFill>
                <a:latin typeface="Inter"/>
              </a:rPr>
              <a:t>platform fee</a:t>
            </a:r>
          </a:p>
        </p:txBody>
      </p:sp>
      <p:sp>
        <p:nvSpPr>
          <p:cNvPr id="19" name="Rounded Rectangle 18"/>
          <p:cNvSpPr/>
          <p:nvPr/>
        </p:nvSpPr>
        <p:spPr>
          <a:xfrm>
            <a:off x="6126480" y="3520440"/>
            <a:ext cx="5486400" cy="2743200"/>
          </a:xfrm>
          <a:prstGeom prst="roundRect">
            <a:avLst/>
          </a:prstGeom>
          <a:solidFill>
            <a:srgbClr val="161616"/>
          </a:solidFill>
          <a:ln w="6350">
            <a:solidFill>
              <a:srgbClr val="2A2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0" y="3703320"/>
            <a:ext cx="4937760" cy="365760"/>
          </a:xfrm>
          <a:prstGeom prst="rect">
            <a:avLst/>
          </a:prstGeom>
          <a:noFill/>
        </p:spPr>
        <p:txBody>
          <a:bodyPr wrap="square" lIns="0" rIns="0" tIns="0" bIns="0" anchor="t">
            <a:spAutoFit/>
          </a:bodyPr>
          <a:lstStyle/>
          <a:p>
            <a:pPr algn="l">
              <a:lnSpc>
                <a:spcPct val="115000"/>
              </a:lnSpc>
            </a:pPr>
            <a:r>
              <a:rPr sz="1400" b="1" i="0">
                <a:solidFill>
                  <a:srgbClr val="B5FF3D"/>
                </a:solidFill>
                <a:latin typeface="Bricolage Grotesque"/>
              </a:rPr>
              <a:t>Hard success criteria</a:t>
            </a:r>
          </a:p>
        </p:txBody>
      </p:sp>
      <p:sp>
        <p:nvSpPr>
          <p:cNvPr id="21" name="Oval 20"/>
          <p:cNvSpPr/>
          <p:nvPr/>
        </p:nvSpPr>
        <p:spPr>
          <a:xfrm>
            <a:off x="6400800" y="4270248"/>
            <a:ext cx="109728" cy="109728"/>
          </a:xfrm>
          <a:prstGeom prst="ellipse">
            <a:avLst/>
          </a:prstGeom>
          <a:solidFill>
            <a:srgbClr val="B5FF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29400" y="4160520"/>
            <a:ext cx="4709160" cy="365760"/>
          </a:xfrm>
          <a:prstGeom prst="rect">
            <a:avLst/>
          </a:prstGeom>
          <a:noFill/>
        </p:spPr>
        <p:txBody>
          <a:bodyPr wrap="square" lIns="0" rIns="0" tIns="0" bIns="0" anchor="t">
            <a:spAutoFit/>
          </a:bodyPr>
          <a:lstStyle/>
          <a:p>
            <a:pPr algn="l">
              <a:lnSpc>
                <a:spcPct val="115000"/>
              </a:lnSpc>
            </a:pPr>
            <a:r>
              <a:rPr sz="1150" b="0" i="0">
                <a:solidFill>
                  <a:srgbClr val="FFFFFF"/>
                </a:solidFill>
                <a:latin typeface="Inter"/>
              </a:rPr>
              <a:t>≥4 end-to-end shipments through real channels</a:t>
            </a:r>
          </a:p>
        </p:txBody>
      </p:sp>
      <p:sp>
        <p:nvSpPr>
          <p:cNvPr id="23" name="Oval 22"/>
          <p:cNvSpPr/>
          <p:nvPr/>
        </p:nvSpPr>
        <p:spPr>
          <a:xfrm>
            <a:off x="6400800" y="4654295"/>
            <a:ext cx="109728" cy="109728"/>
          </a:xfrm>
          <a:prstGeom prst="ellipse">
            <a:avLst/>
          </a:prstGeom>
          <a:solidFill>
            <a:srgbClr val="B5FF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629400" y="4544567"/>
            <a:ext cx="4709160" cy="365760"/>
          </a:xfrm>
          <a:prstGeom prst="rect">
            <a:avLst/>
          </a:prstGeom>
          <a:noFill/>
        </p:spPr>
        <p:txBody>
          <a:bodyPr wrap="square" lIns="0" rIns="0" tIns="0" bIns="0" anchor="t">
            <a:spAutoFit/>
          </a:bodyPr>
          <a:lstStyle/>
          <a:p>
            <a:pPr algn="l">
              <a:lnSpc>
                <a:spcPct val="115000"/>
              </a:lnSpc>
            </a:pPr>
            <a:r>
              <a:rPr sz="1150" b="0" i="0">
                <a:solidFill>
                  <a:srgbClr val="FFFFFF"/>
                </a:solidFill>
                <a:latin typeface="Inter"/>
              </a:rPr>
              <a:t>≥3 of 8 creators complete the full loop</a:t>
            </a:r>
          </a:p>
        </p:txBody>
      </p:sp>
      <p:sp>
        <p:nvSpPr>
          <p:cNvPr id="25" name="Oval 24"/>
          <p:cNvSpPr/>
          <p:nvPr/>
        </p:nvSpPr>
        <p:spPr>
          <a:xfrm>
            <a:off x="6400800" y="5038344"/>
            <a:ext cx="109728" cy="109728"/>
          </a:xfrm>
          <a:prstGeom prst="ellipse">
            <a:avLst/>
          </a:prstGeom>
          <a:solidFill>
            <a:srgbClr val="B5FF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629400" y="4928616"/>
            <a:ext cx="4709160" cy="365760"/>
          </a:xfrm>
          <a:prstGeom prst="rect">
            <a:avLst/>
          </a:prstGeom>
          <a:noFill/>
        </p:spPr>
        <p:txBody>
          <a:bodyPr wrap="square" lIns="0" rIns="0" tIns="0" bIns="0" anchor="t">
            <a:spAutoFit/>
          </a:bodyPr>
          <a:lstStyle/>
          <a:p>
            <a:pPr algn="l">
              <a:lnSpc>
                <a:spcPct val="115000"/>
              </a:lnSpc>
            </a:pPr>
            <a:r>
              <a:rPr sz="1150" b="0" i="0">
                <a:solidFill>
                  <a:srgbClr val="FFFFFF"/>
                </a:solidFill>
                <a:latin typeface="Inter"/>
              </a:rPr>
              <a:t>≥80% partner accept-rate on dispatches</a:t>
            </a:r>
          </a:p>
        </p:txBody>
      </p:sp>
      <p:sp>
        <p:nvSpPr>
          <p:cNvPr id="27" name="Oval 26"/>
          <p:cNvSpPr/>
          <p:nvPr/>
        </p:nvSpPr>
        <p:spPr>
          <a:xfrm>
            <a:off x="6400800" y="5422392"/>
            <a:ext cx="109728" cy="109728"/>
          </a:xfrm>
          <a:prstGeom prst="ellipse">
            <a:avLst/>
          </a:prstGeom>
          <a:solidFill>
            <a:srgbClr val="B5FF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29400" y="5312664"/>
            <a:ext cx="4709160" cy="365760"/>
          </a:xfrm>
          <a:prstGeom prst="rect">
            <a:avLst/>
          </a:prstGeom>
          <a:noFill/>
        </p:spPr>
        <p:txBody>
          <a:bodyPr wrap="square" lIns="0" rIns="0" tIns="0" bIns="0" anchor="t">
            <a:spAutoFit/>
          </a:bodyPr>
          <a:lstStyle/>
          <a:p>
            <a:pPr algn="l">
              <a:lnSpc>
                <a:spcPct val="115000"/>
              </a:lnSpc>
            </a:pPr>
            <a:r>
              <a:rPr sz="1150" b="0" i="0">
                <a:solidFill>
                  <a:srgbClr val="FFFFFF"/>
                </a:solidFill>
                <a:latin typeface="Inter"/>
              </a:rPr>
              <a:t>≥75% on-time shipment by committed lead-time</a:t>
            </a:r>
          </a:p>
        </p:txBody>
      </p:sp>
      <p:sp>
        <p:nvSpPr>
          <p:cNvPr id="29" name="Oval 28"/>
          <p:cNvSpPr/>
          <p:nvPr/>
        </p:nvSpPr>
        <p:spPr>
          <a:xfrm>
            <a:off x="6400800" y="5806440"/>
            <a:ext cx="109728" cy="109728"/>
          </a:xfrm>
          <a:prstGeom prst="ellipse">
            <a:avLst/>
          </a:prstGeom>
          <a:solidFill>
            <a:srgbClr val="B5FF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629400" y="5696712"/>
            <a:ext cx="4709160" cy="365760"/>
          </a:xfrm>
          <a:prstGeom prst="rect">
            <a:avLst/>
          </a:prstGeom>
          <a:noFill/>
        </p:spPr>
        <p:txBody>
          <a:bodyPr wrap="square" lIns="0" rIns="0" tIns="0" bIns="0" anchor="t">
            <a:spAutoFit/>
          </a:bodyPr>
          <a:lstStyle/>
          <a:p>
            <a:pPr algn="l">
              <a:lnSpc>
                <a:spcPct val="115000"/>
              </a:lnSpc>
            </a:pPr>
            <a:r>
              <a:rPr sz="1150" b="0" i="0">
                <a:solidFill>
                  <a:srgbClr val="FFFFFF"/>
                </a:solidFill>
                <a:latin typeface="Inter"/>
              </a:rPr>
              <a:t>≤2 quality disputes across the cohort</a:t>
            </a:r>
          </a:p>
        </p:txBody>
      </p:sp>
      <p:sp>
        <p:nvSpPr>
          <p:cNvPr id="31" name="TextBox 30"/>
          <p:cNvSpPr txBox="1"/>
          <p:nvPr/>
        </p:nvSpPr>
        <p:spPr>
          <a:xfrm>
            <a:off x="640080" y="6355080"/>
            <a:ext cx="11155680" cy="411480"/>
          </a:xfrm>
          <a:prstGeom prst="rect">
            <a:avLst/>
          </a:prstGeom>
          <a:noFill/>
        </p:spPr>
        <p:txBody>
          <a:bodyPr wrap="square" lIns="0" rIns="0" tIns="0" bIns="0" anchor="t">
            <a:spAutoFit/>
          </a:bodyPr>
          <a:lstStyle/>
          <a:p>
            <a:pPr algn="l">
              <a:lnSpc>
                <a:spcPct val="120000"/>
              </a:lnSpc>
            </a:pPr>
            <a:r>
              <a:rPr sz="1250" b="0" i="0">
                <a:solidFill>
                  <a:srgbClr val="C0C0C0"/>
                </a:solidFill>
                <a:latin typeface="Inter"/>
              </a:rPr>
              <a:t>The next pitch becomes: </a:t>
            </a:r>
            <a:r>
              <a:rPr sz="1250" b="0" i="1">
                <a:solidFill>
                  <a:srgbClr val="B5FF3D"/>
                </a:solidFill>
                <a:latin typeface="Fraunces"/>
              </a:rPr>
              <a:t>“We orchestrated $X of production GMV across N partners with on-time-rate Y% and N/M creators reordered.”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640080" y="621792"/>
            <a:ext cx="164592" cy="164592"/>
          </a:xfrm>
          <a:prstGeom prst="ellipse">
            <a:avLst/>
          </a:prstGeom>
          <a:solidFill>
            <a:srgbClr val="FF2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96112" y="457200"/>
            <a:ext cx="2286000" cy="457200"/>
          </a:xfrm>
          <a:prstGeom prst="rect">
            <a:avLst/>
          </a:prstGeom>
          <a:noFill/>
        </p:spPr>
        <p:txBody>
          <a:bodyPr wrap="square" lIns="0" rIns="0" tIns="0" bIns="0" anchor="t">
            <a:spAutoFit/>
          </a:bodyPr>
          <a:lstStyle/>
          <a:p>
            <a:pPr algn="l">
              <a:lnSpc>
                <a:spcPct val="115000"/>
              </a:lnSpc>
            </a:pPr>
            <a:r>
              <a:rPr sz="2000" b="1" i="0">
                <a:solidFill>
                  <a:srgbClr val="0A0A0A"/>
                </a:solidFill>
                <a:latin typeface="Bricolage Grotesque"/>
              </a:rPr>
              <a:t>iLaunchify</a:t>
            </a:r>
          </a:p>
        </p:txBody>
      </p:sp>
      <p:sp>
        <p:nvSpPr>
          <p:cNvPr id="5" name="Rounded Rectangle 4"/>
          <p:cNvSpPr/>
          <p:nvPr/>
        </p:nvSpPr>
        <p:spPr>
          <a:xfrm>
            <a:off x="640080" y="1097280"/>
            <a:ext cx="1280160" cy="329184"/>
          </a:xfrm>
          <a:prstGeom prst="roundRect">
            <a:avLst>
              <a:gd name="adj" fmla="val 50000"/>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rIns="164592" tIns="36576" bIns="36576" wrap="none"/>
          <a:lstStyle/>
          <a:p>
            <a:pPr algn="ctr"/>
            <a:r>
              <a:rPr sz="1000" b="1">
                <a:solidFill>
                  <a:srgbClr val="FFFFFF"/>
                </a:solidFill>
                <a:latin typeface="Inter"/>
              </a:rPr>
              <a:t>08 · MARKET</a:t>
            </a:r>
          </a:p>
        </p:txBody>
      </p:sp>
      <p:sp>
        <p:nvSpPr>
          <p:cNvPr id="6" name="TextBox 5"/>
          <p:cNvSpPr txBox="1"/>
          <p:nvPr/>
        </p:nvSpPr>
        <p:spPr>
          <a:xfrm>
            <a:off x="640080" y="1600200"/>
            <a:ext cx="10972800" cy="1554480"/>
          </a:xfrm>
          <a:prstGeom prst="rect">
            <a:avLst/>
          </a:prstGeom>
          <a:noFill/>
        </p:spPr>
        <p:txBody>
          <a:bodyPr wrap="square" lIns="0" rIns="0" tIns="0" bIns="0" anchor="t">
            <a:spAutoFit/>
          </a:bodyPr>
          <a:lstStyle/>
          <a:p>
            <a:pPr algn="l">
              <a:lnSpc>
                <a:spcPct val="105000"/>
              </a:lnSpc>
            </a:pPr>
            <a:r>
              <a:rPr sz="3600" b="1" i="0">
                <a:solidFill>
                  <a:srgbClr val="0A0A0A"/>
                </a:solidFill>
                <a:latin typeface="Bricolage Grotesque"/>
              </a:rPr>
              <a:t>Big market. Specific wedge.</a:t>
            </a:r>
          </a:p>
          <a:p>
            <a:pPr algn="l">
              <a:lnSpc>
                <a:spcPct val="105000"/>
              </a:lnSpc>
            </a:pPr>
            <a:r>
              <a:rPr sz="3600" b="1" i="0">
                <a:solidFill>
                  <a:srgbClr val="0A0A0A"/>
                </a:solidFill>
                <a:latin typeface="Bricolage Grotesque"/>
              </a:rPr>
              <a:t>Defensible 5-year line.</a:t>
            </a:r>
          </a:p>
        </p:txBody>
      </p:sp>
      <p:sp>
        <p:nvSpPr>
          <p:cNvPr id="7" name="Rounded Rectangle 6"/>
          <p:cNvSpPr/>
          <p:nvPr/>
        </p:nvSpPr>
        <p:spPr>
          <a:xfrm>
            <a:off x="640080" y="3383280"/>
            <a:ext cx="5486400" cy="2926080"/>
          </a:xfrm>
          <a:prstGeom prst="roundRect">
            <a:avLst/>
          </a:prstGeom>
          <a:solidFill>
            <a:srgbClr val="F3E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566160"/>
            <a:ext cx="1828800" cy="365760"/>
          </a:xfrm>
          <a:prstGeom prst="rect">
            <a:avLst/>
          </a:prstGeom>
          <a:noFill/>
        </p:spPr>
        <p:txBody>
          <a:bodyPr wrap="square" lIns="0" rIns="0" tIns="0" bIns="0" anchor="t">
            <a:spAutoFit/>
          </a:bodyPr>
          <a:lstStyle/>
          <a:p>
            <a:pPr algn="l">
              <a:lnSpc>
                <a:spcPct val="115000"/>
              </a:lnSpc>
            </a:pPr>
            <a:r>
              <a:rPr sz="1100" b="1" i="0">
                <a:solidFill>
                  <a:srgbClr val="FF2E63"/>
                </a:solidFill>
                <a:latin typeface="Bricolage Grotesque"/>
              </a:rPr>
              <a:t>TAM</a:t>
            </a:r>
          </a:p>
        </p:txBody>
      </p:sp>
      <p:sp>
        <p:nvSpPr>
          <p:cNvPr id="9" name="TextBox 8"/>
          <p:cNvSpPr txBox="1"/>
          <p:nvPr/>
        </p:nvSpPr>
        <p:spPr>
          <a:xfrm>
            <a:off x="914400" y="3886200"/>
            <a:ext cx="4937760" cy="731520"/>
          </a:xfrm>
          <a:prstGeom prst="rect">
            <a:avLst/>
          </a:prstGeom>
          <a:noFill/>
        </p:spPr>
        <p:txBody>
          <a:bodyPr wrap="square" lIns="0" rIns="0" tIns="0" bIns="0" anchor="t">
            <a:spAutoFit/>
          </a:bodyPr>
          <a:lstStyle/>
          <a:p>
            <a:pPr algn="l">
              <a:lnSpc>
                <a:spcPct val="115000"/>
              </a:lnSpc>
            </a:pPr>
            <a:r>
              <a:rPr sz="4200" b="1" i="0">
                <a:solidFill>
                  <a:srgbClr val="0A0A0A"/>
                </a:solidFill>
                <a:latin typeface="Bricolage Grotesque"/>
              </a:rPr>
              <a:t>$730B</a:t>
            </a:r>
          </a:p>
        </p:txBody>
      </p:sp>
      <p:sp>
        <p:nvSpPr>
          <p:cNvPr id="10" name="TextBox 9"/>
          <p:cNvSpPr txBox="1"/>
          <p:nvPr/>
        </p:nvSpPr>
        <p:spPr>
          <a:xfrm>
            <a:off x="914400" y="4754880"/>
            <a:ext cx="4937760" cy="365760"/>
          </a:xfrm>
          <a:prstGeom prst="rect">
            <a:avLst/>
          </a:prstGeom>
          <a:noFill/>
        </p:spPr>
        <p:txBody>
          <a:bodyPr wrap="square" lIns="0" rIns="0" tIns="0" bIns="0" anchor="t">
            <a:spAutoFit/>
          </a:bodyPr>
          <a:lstStyle/>
          <a:p>
            <a:pPr algn="l">
              <a:lnSpc>
                <a:spcPct val="115000"/>
              </a:lnSpc>
            </a:pPr>
            <a:r>
              <a:rPr sz="1000" b="0" i="0">
                <a:solidFill>
                  <a:srgbClr val="6B6B6B"/>
                </a:solidFill>
                <a:latin typeface="Inter"/>
              </a:rPr>
              <a:t>US CPG market — supplements, food &amp; beverage, pet, beauty (Source: FMI / IRI 2024).</a:t>
            </a:r>
          </a:p>
        </p:txBody>
      </p:sp>
      <p:sp>
        <p:nvSpPr>
          <p:cNvPr id="11" name="Rounded Rectangle 10"/>
          <p:cNvSpPr/>
          <p:nvPr/>
        </p:nvSpPr>
        <p:spPr>
          <a:xfrm>
            <a:off x="1005840" y="5166360"/>
            <a:ext cx="4754880" cy="1005840"/>
          </a:xfrm>
          <a:prstGeom prst="roundRect">
            <a:avLst/>
          </a:prstGeom>
          <a:solidFill>
            <a:srgbClr val="FFFFFF"/>
          </a:solidFill>
          <a:ln w="6350">
            <a:solidFill>
              <a:srgbClr val="C9C4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88720" y="5257799"/>
            <a:ext cx="1828800" cy="274320"/>
          </a:xfrm>
          <a:prstGeom prst="rect">
            <a:avLst/>
          </a:prstGeom>
          <a:noFill/>
        </p:spPr>
        <p:txBody>
          <a:bodyPr wrap="square" lIns="0" rIns="0" tIns="0" bIns="0" anchor="t">
            <a:spAutoFit/>
          </a:bodyPr>
          <a:lstStyle/>
          <a:p>
            <a:pPr algn="l">
              <a:lnSpc>
                <a:spcPct val="115000"/>
              </a:lnSpc>
            </a:pPr>
            <a:r>
              <a:rPr sz="1000" b="1" i="0">
                <a:solidFill>
                  <a:srgbClr val="FF2E63"/>
                </a:solidFill>
                <a:latin typeface="Bricolage Grotesque"/>
              </a:rPr>
              <a:t>SAM</a:t>
            </a:r>
          </a:p>
        </p:txBody>
      </p:sp>
      <p:sp>
        <p:nvSpPr>
          <p:cNvPr id="13" name="TextBox 12"/>
          <p:cNvSpPr txBox="1"/>
          <p:nvPr/>
        </p:nvSpPr>
        <p:spPr>
          <a:xfrm>
            <a:off x="1188720" y="5532120"/>
            <a:ext cx="4572000" cy="548640"/>
          </a:xfrm>
          <a:prstGeom prst="rect">
            <a:avLst/>
          </a:prstGeom>
          <a:noFill/>
        </p:spPr>
        <p:txBody>
          <a:bodyPr wrap="square" lIns="0" rIns="0" tIns="0" bIns="0" anchor="t">
            <a:spAutoFit/>
          </a:bodyPr>
          <a:lstStyle/>
          <a:p>
            <a:pPr algn="l">
              <a:lnSpc>
                <a:spcPct val="120000"/>
              </a:lnSpc>
            </a:pPr>
            <a:r>
              <a:rPr sz="2200" b="1" i="0">
                <a:solidFill>
                  <a:srgbClr val="0A0A0A"/>
                </a:solidFill>
                <a:latin typeface="Bricolage Grotesque"/>
              </a:rPr>
              <a:t>$</a:t>
            </a:r>
            <a:r>
              <a:rPr sz="2200" b="1" i="0">
                <a:solidFill>
                  <a:srgbClr val="0A0A0A"/>
                </a:solidFill>
                <a:latin typeface="Bricolage Grotesque"/>
              </a:rPr>
              <a:t>[VERIFY] B</a:t>
            </a:r>
            <a:r>
              <a:rPr sz="1100" b="0" i="0">
                <a:solidFill>
                  <a:srgbClr val="6B6B6B"/>
                </a:solidFill>
                <a:latin typeface="Inter"/>
              </a:rPr>
              <a:t>  · creator-led CPG within US (supplements + functional F&amp;B + pet)</a:t>
            </a:r>
          </a:p>
        </p:txBody>
      </p:sp>
      <p:sp>
        <p:nvSpPr>
          <p:cNvPr id="14" name="Rounded Rectangle 13"/>
          <p:cNvSpPr/>
          <p:nvPr/>
        </p:nvSpPr>
        <p:spPr>
          <a:xfrm>
            <a:off x="6583680" y="3383280"/>
            <a:ext cx="5029200" cy="2926080"/>
          </a:xfrm>
          <a:prstGeom prst="round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0" y="3611880"/>
            <a:ext cx="2743200" cy="365760"/>
          </a:xfrm>
          <a:prstGeom prst="rect">
            <a:avLst/>
          </a:prstGeom>
          <a:noFill/>
        </p:spPr>
        <p:txBody>
          <a:bodyPr wrap="square" lIns="0" rIns="0" tIns="0" bIns="0" anchor="t">
            <a:spAutoFit/>
          </a:bodyPr>
          <a:lstStyle/>
          <a:p>
            <a:pPr algn="l">
              <a:lnSpc>
                <a:spcPct val="115000"/>
              </a:lnSpc>
            </a:pPr>
            <a:r>
              <a:rPr sz="1100" b="1" i="0">
                <a:solidFill>
                  <a:srgbClr val="B5FF3D"/>
                </a:solidFill>
                <a:latin typeface="Bricolage Grotesque"/>
              </a:rPr>
              <a:t>SOM · 5 YEAR</a:t>
            </a:r>
          </a:p>
        </p:txBody>
      </p:sp>
      <p:sp>
        <p:nvSpPr>
          <p:cNvPr id="16" name="TextBox 15"/>
          <p:cNvSpPr txBox="1"/>
          <p:nvPr/>
        </p:nvSpPr>
        <p:spPr>
          <a:xfrm>
            <a:off x="6858000" y="3931920"/>
            <a:ext cx="4572000" cy="822960"/>
          </a:xfrm>
          <a:prstGeom prst="rect">
            <a:avLst/>
          </a:prstGeom>
          <a:noFill/>
        </p:spPr>
        <p:txBody>
          <a:bodyPr wrap="square" lIns="0" rIns="0" tIns="0" bIns="0" anchor="t">
            <a:spAutoFit/>
          </a:bodyPr>
          <a:lstStyle/>
          <a:p>
            <a:pPr algn="l">
              <a:lnSpc>
                <a:spcPct val="115000"/>
              </a:lnSpc>
            </a:pPr>
            <a:r>
              <a:rPr sz="4400" b="1" i="0">
                <a:solidFill>
                  <a:srgbClr val="FFFFFF"/>
                </a:solidFill>
                <a:latin typeface="Bricolage Grotesque"/>
              </a:rPr>
              <a:t>$[VERIFY] M</a:t>
            </a:r>
          </a:p>
        </p:txBody>
      </p:sp>
      <p:sp>
        <p:nvSpPr>
          <p:cNvPr id="17" name="TextBox 16"/>
          <p:cNvSpPr txBox="1"/>
          <p:nvPr/>
        </p:nvSpPr>
        <p:spPr>
          <a:xfrm>
            <a:off x="6858000" y="4846320"/>
            <a:ext cx="4572000" cy="1280160"/>
          </a:xfrm>
          <a:prstGeom prst="rect">
            <a:avLst/>
          </a:prstGeom>
          <a:noFill/>
        </p:spPr>
        <p:txBody>
          <a:bodyPr wrap="square" lIns="0" rIns="0" tIns="0" bIns="0" anchor="t">
            <a:spAutoFit/>
          </a:bodyPr>
          <a:lstStyle/>
          <a:p>
            <a:pPr algn="l">
              <a:lnSpc>
                <a:spcPct val="135000"/>
              </a:lnSpc>
            </a:pPr>
            <a:r>
              <a:rPr sz="1100" b="0" i="0">
                <a:solidFill>
                  <a:srgbClr val="C0C0C0"/>
                </a:solidFill>
                <a:latin typeface="Inter"/>
              </a:rPr>
              <a:t>iLaunchify revenue captured on $[VERIFY] B of creator-led CPG GMV at blended take-rate of ~18% (subscription + production fee + commission).</a:t>
            </a:r>
          </a:p>
        </p:txBody>
      </p:sp>
      <p:sp>
        <p:nvSpPr>
          <p:cNvPr id="18" name="TextBox 17"/>
          <p:cNvSpPr txBox="1"/>
          <p:nvPr/>
        </p:nvSpPr>
        <p:spPr>
          <a:xfrm>
            <a:off x="640080" y="6400800"/>
            <a:ext cx="11155680" cy="365760"/>
          </a:xfrm>
          <a:prstGeom prst="rect">
            <a:avLst/>
          </a:prstGeom>
          <a:noFill/>
        </p:spPr>
        <p:txBody>
          <a:bodyPr wrap="square" lIns="0" rIns="0" tIns="0" bIns="0" anchor="t">
            <a:spAutoFit/>
          </a:bodyPr>
          <a:lstStyle/>
          <a:p>
            <a:pPr algn="l">
              <a:lnSpc>
                <a:spcPct val="115000"/>
              </a:lnSpc>
            </a:pPr>
            <a:r>
              <a:rPr sz="900" b="0" i="1">
                <a:solidFill>
                  <a:srgbClr val="6B6B6B"/>
                </a:solidFill>
                <a:latin typeface="Inter"/>
              </a:rPr>
              <a:t>Numbers marked [VERIFY] need defensible public sourcing (IRI / Statista / NielsenIQ / SignalFire creator-economy report) before sending.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640080" y="621792"/>
            <a:ext cx="164592" cy="164592"/>
          </a:xfrm>
          <a:prstGeom prst="ellipse">
            <a:avLst/>
          </a:prstGeom>
          <a:solidFill>
            <a:srgbClr val="FF2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96112" y="457200"/>
            <a:ext cx="2286000" cy="457200"/>
          </a:xfrm>
          <a:prstGeom prst="rect">
            <a:avLst/>
          </a:prstGeom>
          <a:noFill/>
        </p:spPr>
        <p:txBody>
          <a:bodyPr wrap="square" lIns="0" rIns="0" tIns="0" bIns="0" anchor="t">
            <a:spAutoFit/>
          </a:bodyPr>
          <a:lstStyle/>
          <a:p>
            <a:pPr algn="l">
              <a:lnSpc>
                <a:spcPct val="115000"/>
              </a:lnSpc>
            </a:pPr>
            <a:r>
              <a:rPr sz="2000" b="1" i="0">
                <a:solidFill>
                  <a:srgbClr val="0A0A0A"/>
                </a:solidFill>
                <a:latin typeface="Bricolage Grotesque"/>
              </a:rPr>
              <a:t>iLaunchify</a:t>
            </a:r>
          </a:p>
        </p:txBody>
      </p:sp>
      <p:sp>
        <p:nvSpPr>
          <p:cNvPr id="5" name="Rounded Rectangle 4"/>
          <p:cNvSpPr/>
          <p:nvPr/>
        </p:nvSpPr>
        <p:spPr>
          <a:xfrm>
            <a:off x="640080" y="1097280"/>
            <a:ext cx="1874519" cy="329184"/>
          </a:xfrm>
          <a:prstGeom prst="roundRect">
            <a:avLst>
              <a:gd name="adj" fmla="val 50000"/>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rIns="164592" tIns="36576" bIns="36576" wrap="none"/>
          <a:lstStyle/>
          <a:p>
            <a:pPr algn="ctr"/>
            <a:r>
              <a:rPr sz="1000" b="1">
                <a:solidFill>
                  <a:srgbClr val="FFFFFF"/>
                </a:solidFill>
                <a:latin typeface="Inter"/>
              </a:rPr>
              <a:t>09 · WHY US, WHY NOW</a:t>
            </a:r>
          </a:p>
        </p:txBody>
      </p:sp>
      <p:sp>
        <p:nvSpPr>
          <p:cNvPr id="6" name="TextBox 5"/>
          <p:cNvSpPr txBox="1"/>
          <p:nvPr/>
        </p:nvSpPr>
        <p:spPr>
          <a:xfrm>
            <a:off x="640080" y="1600200"/>
            <a:ext cx="10972800" cy="1645920"/>
          </a:xfrm>
          <a:prstGeom prst="rect">
            <a:avLst/>
          </a:prstGeom>
          <a:noFill/>
        </p:spPr>
        <p:txBody>
          <a:bodyPr wrap="square" lIns="0" rIns="0" tIns="0" bIns="0" anchor="t">
            <a:spAutoFit/>
          </a:bodyPr>
          <a:lstStyle/>
          <a:p>
            <a:pPr algn="l">
              <a:lnSpc>
                <a:spcPct val="105000"/>
              </a:lnSpc>
            </a:pPr>
            <a:r>
              <a:rPr sz="3600" b="1" i="0">
                <a:solidFill>
                  <a:srgbClr val="0A0A0A"/>
                </a:solidFill>
                <a:latin typeface="Bricolage Grotesque"/>
              </a:rPr>
              <a:t>Six months. </a:t>
            </a:r>
            <a:r>
              <a:rPr sz="3600" b="1" i="1">
                <a:solidFill>
                  <a:srgbClr val="FF2E63"/>
                </a:solidFill>
                <a:latin typeface="Bricolage Grotesque"/>
              </a:rPr>
              <a:t>One founder.
A real platform.</a:t>
            </a:r>
          </a:p>
        </p:txBody>
      </p:sp>
      <p:sp>
        <p:nvSpPr>
          <p:cNvPr id="7" name="Rounded Rectangle 6"/>
          <p:cNvSpPr/>
          <p:nvPr/>
        </p:nvSpPr>
        <p:spPr>
          <a:xfrm>
            <a:off x="640080" y="3429000"/>
            <a:ext cx="2697480" cy="1188720"/>
          </a:xfrm>
          <a:prstGeom prst="roundRect">
            <a:avLst/>
          </a:prstGeom>
          <a:solidFill>
            <a:srgbClr val="F3E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566160"/>
            <a:ext cx="2148840" cy="640080"/>
          </a:xfrm>
          <a:prstGeom prst="rect">
            <a:avLst/>
          </a:prstGeom>
          <a:noFill/>
        </p:spPr>
        <p:txBody>
          <a:bodyPr wrap="square" lIns="0" rIns="0" tIns="0" bIns="0" anchor="t">
            <a:spAutoFit/>
          </a:bodyPr>
          <a:lstStyle/>
          <a:p>
            <a:pPr algn="l">
              <a:lnSpc>
                <a:spcPct val="115000"/>
              </a:lnSpc>
            </a:pPr>
            <a:r>
              <a:rPr sz="3400" b="1" i="0">
                <a:solidFill>
                  <a:srgbClr val="0A0A0A"/>
                </a:solidFill>
                <a:latin typeface="Bricolage Grotesque"/>
              </a:rPr>
              <a:t>~590</a:t>
            </a:r>
          </a:p>
        </p:txBody>
      </p:sp>
      <p:sp>
        <p:nvSpPr>
          <p:cNvPr id="9" name="TextBox 8"/>
          <p:cNvSpPr txBox="1"/>
          <p:nvPr/>
        </p:nvSpPr>
        <p:spPr>
          <a:xfrm>
            <a:off x="914400" y="4206240"/>
            <a:ext cx="2148840" cy="365760"/>
          </a:xfrm>
          <a:prstGeom prst="rect">
            <a:avLst/>
          </a:prstGeom>
          <a:noFill/>
        </p:spPr>
        <p:txBody>
          <a:bodyPr wrap="square" lIns="0" rIns="0" tIns="0" bIns="0" anchor="t">
            <a:spAutoFit/>
          </a:bodyPr>
          <a:lstStyle/>
          <a:p>
            <a:pPr algn="l">
              <a:lnSpc>
                <a:spcPct val="115000"/>
              </a:lnSpc>
            </a:pPr>
            <a:r>
              <a:rPr sz="1100" b="0" i="0">
                <a:solidFill>
                  <a:srgbClr val="6B6B6B"/>
                </a:solidFill>
                <a:latin typeface="Inter"/>
              </a:rPr>
              <a:t>shipped tasks</a:t>
            </a:r>
          </a:p>
        </p:txBody>
      </p:sp>
      <p:sp>
        <p:nvSpPr>
          <p:cNvPr id="10" name="Rounded Rectangle 9"/>
          <p:cNvSpPr/>
          <p:nvPr/>
        </p:nvSpPr>
        <p:spPr>
          <a:xfrm>
            <a:off x="3474720" y="3429000"/>
            <a:ext cx="2697480" cy="1188720"/>
          </a:xfrm>
          <a:prstGeom prst="roundRect">
            <a:avLst/>
          </a:prstGeom>
          <a:solidFill>
            <a:srgbClr val="F3E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749040" y="3566160"/>
            <a:ext cx="2148840" cy="640080"/>
          </a:xfrm>
          <a:prstGeom prst="rect">
            <a:avLst/>
          </a:prstGeom>
          <a:noFill/>
        </p:spPr>
        <p:txBody>
          <a:bodyPr wrap="square" lIns="0" rIns="0" tIns="0" bIns="0" anchor="t">
            <a:spAutoFit/>
          </a:bodyPr>
          <a:lstStyle/>
          <a:p>
            <a:pPr algn="l">
              <a:lnSpc>
                <a:spcPct val="115000"/>
              </a:lnSpc>
            </a:pPr>
            <a:r>
              <a:rPr sz="3400" b="1" i="0">
                <a:solidFill>
                  <a:srgbClr val="0A0A0A"/>
                </a:solidFill>
                <a:latin typeface="Bricolage Grotesque"/>
              </a:rPr>
              <a:t>4</a:t>
            </a:r>
          </a:p>
        </p:txBody>
      </p:sp>
      <p:sp>
        <p:nvSpPr>
          <p:cNvPr id="12" name="TextBox 11"/>
          <p:cNvSpPr txBox="1"/>
          <p:nvPr/>
        </p:nvSpPr>
        <p:spPr>
          <a:xfrm>
            <a:off x="3749040" y="4206240"/>
            <a:ext cx="2148840" cy="365760"/>
          </a:xfrm>
          <a:prstGeom prst="rect">
            <a:avLst/>
          </a:prstGeom>
          <a:noFill/>
        </p:spPr>
        <p:txBody>
          <a:bodyPr wrap="square" lIns="0" rIns="0" tIns="0" bIns="0" anchor="t">
            <a:spAutoFit/>
          </a:bodyPr>
          <a:lstStyle/>
          <a:p>
            <a:pPr algn="l">
              <a:lnSpc>
                <a:spcPct val="115000"/>
              </a:lnSpc>
            </a:pPr>
            <a:r>
              <a:rPr sz="1100" b="0" i="0">
                <a:solidFill>
                  <a:srgbClr val="6B6B6B"/>
                </a:solidFill>
                <a:latin typeface="Inter"/>
              </a:rPr>
              <a:t>Next.js apps</a:t>
            </a:r>
          </a:p>
        </p:txBody>
      </p:sp>
      <p:sp>
        <p:nvSpPr>
          <p:cNvPr id="13" name="Rounded Rectangle 12"/>
          <p:cNvSpPr/>
          <p:nvPr/>
        </p:nvSpPr>
        <p:spPr>
          <a:xfrm>
            <a:off x="6309360" y="3429000"/>
            <a:ext cx="2697480" cy="1188720"/>
          </a:xfrm>
          <a:prstGeom prst="roundRect">
            <a:avLst/>
          </a:prstGeom>
          <a:solidFill>
            <a:srgbClr val="F3E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0" y="3566160"/>
            <a:ext cx="2148840" cy="640080"/>
          </a:xfrm>
          <a:prstGeom prst="rect">
            <a:avLst/>
          </a:prstGeom>
          <a:noFill/>
        </p:spPr>
        <p:txBody>
          <a:bodyPr wrap="square" lIns="0" rIns="0" tIns="0" bIns="0" anchor="t">
            <a:spAutoFit/>
          </a:bodyPr>
          <a:lstStyle/>
          <a:p>
            <a:pPr algn="l">
              <a:lnSpc>
                <a:spcPct val="115000"/>
              </a:lnSpc>
            </a:pPr>
            <a:r>
              <a:rPr sz="3400" b="1" i="0">
                <a:solidFill>
                  <a:srgbClr val="0A0A0A"/>
                </a:solidFill>
                <a:latin typeface="Bricolage Grotesque"/>
              </a:rPr>
              <a:t>100+</a:t>
            </a:r>
          </a:p>
        </p:txBody>
      </p:sp>
      <p:sp>
        <p:nvSpPr>
          <p:cNvPr id="15" name="TextBox 14"/>
          <p:cNvSpPr txBox="1"/>
          <p:nvPr/>
        </p:nvSpPr>
        <p:spPr>
          <a:xfrm>
            <a:off x="6583680" y="4206240"/>
            <a:ext cx="2148840" cy="365760"/>
          </a:xfrm>
          <a:prstGeom prst="rect">
            <a:avLst/>
          </a:prstGeom>
          <a:noFill/>
        </p:spPr>
        <p:txBody>
          <a:bodyPr wrap="square" lIns="0" rIns="0" tIns="0" bIns="0" anchor="t">
            <a:spAutoFit/>
          </a:bodyPr>
          <a:lstStyle/>
          <a:p>
            <a:pPr algn="l">
              <a:lnSpc>
                <a:spcPct val="115000"/>
              </a:lnSpc>
            </a:pPr>
            <a:r>
              <a:rPr sz="1100" b="0" i="0">
                <a:solidFill>
                  <a:srgbClr val="6B6B6B"/>
                </a:solidFill>
                <a:latin typeface="Inter"/>
              </a:rPr>
              <a:t>Prisma models</a:t>
            </a:r>
          </a:p>
        </p:txBody>
      </p:sp>
      <p:sp>
        <p:nvSpPr>
          <p:cNvPr id="16" name="Rounded Rectangle 15"/>
          <p:cNvSpPr/>
          <p:nvPr/>
        </p:nvSpPr>
        <p:spPr>
          <a:xfrm>
            <a:off x="9144000" y="3429000"/>
            <a:ext cx="2697480" cy="1188720"/>
          </a:xfrm>
          <a:prstGeom prst="roundRect">
            <a:avLst/>
          </a:prstGeom>
          <a:solidFill>
            <a:srgbClr val="F3E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418320" y="3566160"/>
            <a:ext cx="2148840" cy="640080"/>
          </a:xfrm>
          <a:prstGeom prst="rect">
            <a:avLst/>
          </a:prstGeom>
          <a:noFill/>
        </p:spPr>
        <p:txBody>
          <a:bodyPr wrap="square" lIns="0" rIns="0" tIns="0" bIns="0" anchor="t">
            <a:spAutoFit/>
          </a:bodyPr>
          <a:lstStyle/>
          <a:p>
            <a:pPr algn="l">
              <a:lnSpc>
                <a:spcPct val="115000"/>
              </a:lnSpc>
            </a:pPr>
            <a:r>
              <a:rPr sz="3400" b="1" i="0">
                <a:solidFill>
                  <a:srgbClr val="0A0A0A"/>
                </a:solidFill>
                <a:latin typeface="Bricolage Grotesque"/>
              </a:rPr>
              <a:t>24</a:t>
            </a:r>
          </a:p>
        </p:txBody>
      </p:sp>
      <p:sp>
        <p:nvSpPr>
          <p:cNvPr id="18" name="TextBox 17"/>
          <p:cNvSpPr txBox="1"/>
          <p:nvPr/>
        </p:nvSpPr>
        <p:spPr>
          <a:xfrm>
            <a:off x="9418320" y="4206240"/>
            <a:ext cx="2148840" cy="365760"/>
          </a:xfrm>
          <a:prstGeom prst="rect">
            <a:avLst/>
          </a:prstGeom>
          <a:noFill/>
        </p:spPr>
        <p:txBody>
          <a:bodyPr wrap="square" lIns="0" rIns="0" tIns="0" bIns="0" anchor="t">
            <a:spAutoFit/>
          </a:bodyPr>
          <a:lstStyle/>
          <a:p>
            <a:pPr algn="l">
              <a:lnSpc>
                <a:spcPct val="115000"/>
              </a:lnSpc>
            </a:pPr>
            <a:r>
              <a:rPr sz="1100" b="0" i="0">
                <a:solidFill>
                  <a:srgbClr val="6B6B6B"/>
                </a:solidFill>
                <a:latin typeface="Inter"/>
              </a:rPr>
              <a:t>DB migrations</a:t>
            </a:r>
          </a:p>
        </p:txBody>
      </p:sp>
      <p:sp>
        <p:nvSpPr>
          <p:cNvPr id="19" name="Oval 18"/>
          <p:cNvSpPr/>
          <p:nvPr/>
        </p:nvSpPr>
        <p:spPr>
          <a:xfrm>
            <a:off x="640080" y="4965192"/>
            <a:ext cx="109728" cy="109728"/>
          </a:xfrm>
          <a:prstGeom prst="ellipse">
            <a:avLst/>
          </a:prstGeom>
          <a:solidFill>
            <a:srgbClr val="FF2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4846320"/>
            <a:ext cx="5166360" cy="365760"/>
          </a:xfrm>
          <a:prstGeom prst="rect">
            <a:avLst/>
          </a:prstGeom>
          <a:noFill/>
        </p:spPr>
        <p:txBody>
          <a:bodyPr wrap="square" lIns="0" rIns="0" tIns="0" bIns="0" anchor="t">
            <a:spAutoFit/>
          </a:bodyPr>
          <a:lstStyle/>
          <a:p>
            <a:pPr algn="l">
              <a:lnSpc>
                <a:spcPct val="115000"/>
              </a:lnSpc>
            </a:pPr>
            <a:r>
              <a:rPr sz="1150" b="0" i="0">
                <a:solidFill>
                  <a:srgbClr val="2B2B2B"/>
                </a:solidFill>
                <a:latin typeface="Inter"/>
              </a:rPr>
              <a:t>Fabric.js Design Studio with live FDA compliance scan</a:t>
            </a:r>
          </a:p>
        </p:txBody>
      </p:sp>
      <p:sp>
        <p:nvSpPr>
          <p:cNvPr id="21" name="Oval 20"/>
          <p:cNvSpPr/>
          <p:nvPr/>
        </p:nvSpPr>
        <p:spPr>
          <a:xfrm>
            <a:off x="640080" y="5376672"/>
            <a:ext cx="109728" cy="109728"/>
          </a:xfrm>
          <a:prstGeom prst="ellipse">
            <a:avLst/>
          </a:prstGeom>
          <a:solidFill>
            <a:srgbClr val="FF2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8680" y="5257800"/>
            <a:ext cx="5166360" cy="365760"/>
          </a:xfrm>
          <a:prstGeom prst="rect">
            <a:avLst/>
          </a:prstGeom>
          <a:noFill/>
        </p:spPr>
        <p:txBody>
          <a:bodyPr wrap="square" lIns="0" rIns="0" tIns="0" bIns="0" anchor="t">
            <a:spAutoFit/>
          </a:bodyPr>
          <a:lstStyle/>
          <a:p>
            <a:pPr algn="l">
              <a:lnSpc>
                <a:spcPct val="115000"/>
              </a:lnSpc>
            </a:pPr>
            <a:r>
              <a:rPr sz="1150" b="0" i="0">
                <a:solidFill>
                  <a:srgbClr val="2B2B2B"/>
                </a:solidFill>
                <a:latin typeface="Inter"/>
              </a:rPr>
              <a:t>Stripe Connect multi-party payouts (creator + partner)</a:t>
            </a:r>
          </a:p>
        </p:txBody>
      </p:sp>
      <p:sp>
        <p:nvSpPr>
          <p:cNvPr id="23" name="Oval 22"/>
          <p:cNvSpPr/>
          <p:nvPr/>
        </p:nvSpPr>
        <p:spPr>
          <a:xfrm>
            <a:off x="640080" y="5788152"/>
            <a:ext cx="109728" cy="109728"/>
          </a:xfrm>
          <a:prstGeom prst="ellipse">
            <a:avLst/>
          </a:prstGeom>
          <a:solidFill>
            <a:srgbClr val="FF2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68680" y="5669280"/>
            <a:ext cx="5166360" cy="365760"/>
          </a:xfrm>
          <a:prstGeom prst="rect">
            <a:avLst/>
          </a:prstGeom>
          <a:noFill/>
        </p:spPr>
        <p:txBody>
          <a:bodyPr wrap="square" lIns="0" rIns="0" tIns="0" bIns="0" anchor="t">
            <a:spAutoFit/>
          </a:bodyPr>
          <a:lstStyle/>
          <a:p>
            <a:pPr algn="l">
              <a:lnSpc>
                <a:spcPct val="115000"/>
              </a:lnSpc>
            </a:pPr>
            <a:r>
              <a:rPr sz="1150" b="0" i="0">
                <a:solidFill>
                  <a:srgbClr val="2B2B2B"/>
                </a:solidFill>
                <a:latin typeface="Inter"/>
              </a:rPr>
              <a:t>5-layer partner onboarding + 10-state activation FSM</a:t>
            </a:r>
          </a:p>
        </p:txBody>
      </p:sp>
      <p:sp>
        <p:nvSpPr>
          <p:cNvPr id="25" name="Oval 24"/>
          <p:cNvSpPr/>
          <p:nvPr/>
        </p:nvSpPr>
        <p:spPr>
          <a:xfrm>
            <a:off x="6217920" y="4965192"/>
            <a:ext cx="109728" cy="109728"/>
          </a:xfrm>
          <a:prstGeom prst="ellipse">
            <a:avLst/>
          </a:prstGeom>
          <a:solidFill>
            <a:srgbClr val="FF2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46520" y="4846320"/>
            <a:ext cx="5166360" cy="365760"/>
          </a:xfrm>
          <a:prstGeom prst="rect">
            <a:avLst/>
          </a:prstGeom>
          <a:noFill/>
        </p:spPr>
        <p:txBody>
          <a:bodyPr wrap="square" lIns="0" rIns="0" tIns="0" bIns="0" anchor="t">
            <a:spAutoFit/>
          </a:bodyPr>
          <a:lstStyle/>
          <a:p>
            <a:pPr algn="l">
              <a:lnSpc>
                <a:spcPct val="115000"/>
              </a:lnSpc>
            </a:pPr>
            <a:r>
              <a:rPr sz="1150" b="0" i="0">
                <a:solidFill>
                  <a:srgbClr val="2B2B2B"/>
                </a:solidFill>
                <a:latin typeface="Inter"/>
              </a:rPr>
              <a:t>Multi-partner approval workflow with manifest versioning</a:t>
            </a:r>
          </a:p>
        </p:txBody>
      </p:sp>
      <p:sp>
        <p:nvSpPr>
          <p:cNvPr id="27" name="Oval 26"/>
          <p:cNvSpPr/>
          <p:nvPr/>
        </p:nvSpPr>
        <p:spPr>
          <a:xfrm>
            <a:off x="6217920" y="5376672"/>
            <a:ext cx="109728" cy="109728"/>
          </a:xfrm>
          <a:prstGeom prst="ellipse">
            <a:avLst/>
          </a:prstGeom>
          <a:solidFill>
            <a:srgbClr val="FF2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46520" y="5257800"/>
            <a:ext cx="5166360" cy="365760"/>
          </a:xfrm>
          <a:prstGeom prst="rect">
            <a:avLst/>
          </a:prstGeom>
          <a:noFill/>
        </p:spPr>
        <p:txBody>
          <a:bodyPr wrap="square" lIns="0" rIns="0" tIns="0" bIns="0" anchor="t">
            <a:spAutoFit/>
          </a:bodyPr>
          <a:lstStyle/>
          <a:p>
            <a:pPr algn="l">
              <a:lnSpc>
                <a:spcPct val="115000"/>
              </a:lnSpc>
            </a:pPr>
            <a:r>
              <a:rPr sz="1150" b="0" i="0">
                <a:solidFill>
                  <a:srgbClr val="2B2B2B"/>
                </a:solidFill>
                <a:latin typeface="Inter"/>
              </a:rPr>
              <a:t>Marketplace 4-layer taxonomy + niche auto-suggest engine</a:t>
            </a:r>
          </a:p>
        </p:txBody>
      </p:sp>
      <p:sp>
        <p:nvSpPr>
          <p:cNvPr id="29" name="Oval 28"/>
          <p:cNvSpPr/>
          <p:nvPr/>
        </p:nvSpPr>
        <p:spPr>
          <a:xfrm>
            <a:off x="6217920" y="5788152"/>
            <a:ext cx="109728" cy="109728"/>
          </a:xfrm>
          <a:prstGeom prst="ellipse">
            <a:avLst/>
          </a:prstGeom>
          <a:solidFill>
            <a:srgbClr val="FF2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46520" y="5669280"/>
            <a:ext cx="5166360" cy="365760"/>
          </a:xfrm>
          <a:prstGeom prst="rect">
            <a:avLst/>
          </a:prstGeom>
          <a:noFill/>
        </p:spPr>
        <p:txBody>
          <a:bodyPr wrap="square" lIns="0" rIns="0" tIns="0" bIns="0" anchor="t">
            <a:spAutoFit/>
          </a:bodyPr>
          <a:lstStyle/>
          <a:p>
            <a:pPr algn="l">
              <a:lnSpc>
                <a:spcPct val="115000"/>
              </a:lnSpc>
            </a:pPr>
            <a:r>
              <a:rPr sz="1150" b="0" i="0">
                <a:solidFill>
                  <a:srgbClr val="2B2B2B"/>
                </a:solidFill>
                <a:latin typeface="Inter"/>
              </a:rPr>
              <a:t>Lawyer-ready legal foundation (ToS / Privacy / 2 agreements)</a:t>
            </a:r>
          </a:p>
        </p:txBody>
      </p:sp>
      <p:sp>
        <p:nvSpPr>
          <p:cNvPr id="31" name="TextBox 30"/>
          <p:cNvSpPr txBox="1"/>
          <p:nvPr/>
        </p:nvSpPr>
        <p:spPr>
          <a:xfrm>
            <a:off x="640080" y="6355080"/>
            <a:ext cx="10972800" cy="365760"/>
          </a:xfrm>
          <a:prstGeom prst="rect">
            <a:avLst/>
          </a:prstGeom>
          <a:noFill/>
        </p:spPr>
        <p:txBody>
          <a:bodyPr wrap="square" lIns="0" rIns="0" tIns="0" bIns="0" anchor="t">
            <a:spAutoFit/>
          </a:bodyPr>
          <a:lstStyle/>
          <a:p>
            <a:pPr algn="l">
              <a:lnSpc>
                <a:spcPct val="120000"/>
              </a:lnSpc>
            </a:pPr>
            <a:r>
              <a:rPr sz="1300" b="0" i="1">
                <a:solidFill>
                  <a:srgbClr val="6B6B6B"/>
                </a:solidFill>
                <a:latin typeface="Fraunces"/>
              </a:rPr>
              <a:t>This is what one focused founder built. </a:t>
            </a:r>
            <a:r>
              <a:rPr sz="1300" b="1" i="0">
                <a:solidFill>
                  <a:srgbClr val="0A0A0A"/>
                </a:solidFill>
                <a:latin typeface="Bricolage Grotesque"/>
              </a:rPr>
              <a:t>Imagine what a team does.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640080" y="621792"/>
            <a:ext cx="164592" cy="164592"/>
          </a:xfrm>
          <a:prstGeom prst="ellipse">
            <a:avLst/>
          </a:prstGeom>
          <a:solidFill>
            <a:srgbClr val="FF2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96112" y="457200"/>
            <a:ext cx="2286000" cy="457200"/>
          </a:xfrm>
          <a:prstGeom prst="rect">
            <a:avLst/>
          </a:prstGeom>
          <a:noFill/>
        </p:spPr>
        <p:txBody>
          <a:bodyPr wrap="square" lIns="0" rIns="0" tIns="0" bIns="0" anchor="t">
            <a:spAutoFit/>
          </a:bodyPr>
          <a:lstStyle/>
          <a:p>
            <a:pPr algn="l">
              <a:lnSpc>
                <a:spcPct val="115000"/>
              </a:lnSpc>
            </a:pPr>
            <a:r>
              <a:rPr sz="2000" b="1" i="0">
                <a:solidFill>
                  <a:srgbClr val="0A0A0A"/>
                </a:solidFill>
                <a:latin typeface="Bricolage Grotesque"/>
              </a:rPr>
              <a:t>iLaunchify</a:t>
            </a:r>
          </a:p>
        </p:txBody>
      </p:sp>
      <p:sp>
        <p:nvSpPr>
          <p:cNvPr id="5" name="Rounded Rectangle 4"/>
          <p:cNvSpPr/>
          <p:nvPr/>
        </p:nvSpPr>
        <p:spPr>
          <a:xfrm>
            <a:off x="640080" y="1097280"/>
            <a:ext cx="1188720" cy="329184"/>
          </a:xfrm>
          <a:prstGeom prst="roundRect">
            <a:avLst>
              <a:gd name="adj" fmla="val 50000"/>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rIns="164592" tIns="36576" bIns="36576" wrap="none"/>
          <a:lstStyle/>
          <a:p>
            <a:pPr algn="ctr"/>
            <a:r>
              <a:rPr sz="1000" b="1">
                <a:solidFill>
                  <a:srgbClr val="FFFFFF"/>
                </a:solidFill>
                <a:latin typeface="Inter"/>
              </a:rPr>
              <a:t>10 · TEAM</a:t>
            </a:r>
          </a:p>
        </p:txBody>
      </p:sp>
      <p:sp>
        <p:nvSpPr>
          <p:cNvPr id="6" name="TextBox 5"/>
          <p:cNvSpPr txBox="1"/>
          <p:nvPr/>
        </p:nvSpPr>
        <p:spPr>
          <a:xfrm>
            <a:off x="640080" y="1600200"/>
            <a:ext cx="10972800" cy="1554480"/>
          </a:xfrm>
          <a:prstGeom prst="rect">
            <a:avLst/>
          </a:prstGeom>
          <a:noFill/>
        </p:spPr>
        <p:txBody>
          <a:bodyPr wrap="square" lIns="0" rIns="0" tIns="0" bIns="0" anchor="t">
            <a:spAutoFit/>
          </a:bodyPr>
          <a:lstStyle/>
          <a:p>
            <a:pPr algn="l">
              <a:lnSpc>
                <a:spcPct val="105000"/>
              </a:lnSpc>
            </a:pPr>
            <a:r>
              <a:rPr sz="3600" b="1" i="0">
                <a:solidFill>
                  <a:srgbClr val="0A0A0A"/>
                </a:solidFill>
                <a:latin typeface="Bricolage Grotesque"/>
              </a:rPr>
              <a:t>Solo today.</a:t>
            </a:r>
          </a:p>
          <a:p>
            <a:pPr algn="l">
              <a:lnSpc>
                <a:spcPct val="105000"/>
              </a:lnSpc>
            </a:pPr>
            <a:r>
              <a:rPr sz="3600" b="1" i="0">
                <a:solidFill>
                  <a:srgbClr val="0A0A0A"/>
                </a:solidFill>
                <a:latin typeface="Bricolage Grotesque"/>
              </a:rPr>
              <a:t>Compounding by month 6.</a:t>
            </a:r>
          </a:p>
        </p:txBody>
      </p:sp>
      <p:sp>
        <p:nvSpPr>
          <p:cNvPr id="7" name="Rounded Rectangle 6"/>
          <p:cNvSpPr/>
          <p:nvPr/>
        </p:nvSpPr>
        <p:spPr>
          <a:xfrm>
            <a:off x="640080" y="3383280"/>
            <a:ext cx="5303520" cy="2926080"/>
          </a:xfrm>
          <a:prstGeom prst="roundRect">
            <a:avLst/>
          </a:prstGeom>
          <a:solidFill>
            <a:srgbClr val="F3E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05840" y="3749040"/>
            <a:ext cx="1188720" cy="1188720"/>
          </a:xfrm>
          <a:prstGeom prst="ellipse">
            <a:avLst/>
          </a:prstGeom>
          <a:solidFill>
            <a:srgbClr val="FF2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3749040"/>
            <a:ext cx="1188720" cy="1188720"/>
          </a:xfrm>
          <a:prstGeom prst="rect">
            <a:avLst/>
          </a:prstGeom>
          <a:noFill/>
        </p:spPr>
        <p:txBody>
          <a:bodyPr wrap="square" lIns="0" rIns="0" tIns="0" bIns="0" anchor="ctr">
            <a:spAutoFit/>
          </a:bodyPr>
          <a:lstStyle/>
          <a:p>
            <a:pPr algn="ctr">
              <a:lnSpc>
                <a:spcPct val="115000"/>
              </a:lnSpc>
            </a:pPr>
            <a:r>
              <a:rPr sz="3200" b="1" i="0">
                <a:solidFill>
                  <a:srgbClr val="FFFFFF"/>
                </a:solidFill>
                <a:latin typeface="Bricolage Grotesque"/>
              </a:rPr>
              <a:t>PG</a:t>
            </a:r>
          </a:p>
        </p:txBody>
      </p:sp>
      <p:sp>
        <p:nvSpPr>
          <p:cNvPr id="10" name="TextBox 9"/>
          <p:cNvSpPr txBox="1"/>
          <p:nvPr/>
        </p:nvSpPr>
        <p:spPr>
          <a:xfrm>
            <a:off x="2377440" y="3840480"/>
            <a:ext cx="3200400" cy="457200"/>
          </a:xfrm>
          <a:prstGeom prst="rect">
            <a:avLst/>
          </a:prstGeom>
          <a:noFill/>
        </p:spPr>
        <p:txBody>
          <a:bodyPr wrap="square" lIns="0" rIns="0" tIns="0" bIns="0" anchor="t">
            <a:spAutoFit/>
          </a:bodyPr>
          <a:lstStyle/>
          <a:p>
            <a:pPr algn="l">
              <a:lnSpc>
                <a:spcPct val="115000"/>
              </a:lnSpc>
            </a:pPr>
            <a:r>
              <a:rPr sz="2000" b="1" i="0">
                <a:solidFill>
                  <a:srgbClr val="0A0A0A"/>
                </a:solidFill>
                <a:latin typeface="Bricolage Grotesque"/>
              </a:rPr>
              <a:t>Pavel Georgiev</a:t>
            </a:r>
          </a:p>
        </p:txBody>
      </p:sp>
      <p:sp>
        <p:nvSpPr>
          <p:cNvPr id="11" name="TextBox 10"/>
          <p:cNvSpPr txBox="1"/>
          <p:nvPr/>
        </p:nvSpPr>
        <p:spPr>
          <a:xfrm>
            <a:off x="2377440" y="4297680"/>
            <a:ext cx="3200400" cy="365760"/>
          </a:xfrm>
          <a:prstGeom prst="rect">
            <a:avLst/>
          </a:prstGeom>
          <a:noFill/>
        </p:spPr>
        <p:txBody>
          <a:bodyPr wrap="square" lIns="0" rIns="0" tIns="0" bIns="0" anchor="t">
            <a:spAutoFit/>
          </a:bodyPr>
          <a:lstStyle/>
          <a:p>
            <a:pPr algn="l">
              <a:lnSpc>
                <a:spcPct val="115000"/>
              </a:lnSpc>
            </a:pPr>
            <a:r>
              <a:rPr sz="1200" b="1" i="0">
                <a:solidFill>
                  <a:srgbClr val="FF2E63"/>
                </a:solidFill>
                <a:latin typeface="Inter"/>
              </a:rPr>
              <a:t>Founder &amp; CEO</a:t>
            </a:r>
          </a:p>
        </p:txBody>
      </p:sp>
      <p:sp>
        <p:nvSpPr>
          <p:cNvPr id="12" name="TextBox 11"/>
          <p:cNvSpPr txBox="1"/>
          <p:nvPr/>
        </p:nvSpPr>
        <p:spPr>
          <a:xfrm>
            <a:off x="1005840" y="5166360"/>
            <a:ext cx="4572000" cy="1051560"/>
          </a:xfrm>
          <a:prstGeom prst="rect">
            <a:avLst/>
          </a:prstGeom>
          <a:noFill/>
        </p:spPr>
        <p:txBody>
          <a:bodyPr wrap="square" lIns="0" rIns="0" tIns="0" bIns="0" anchor="t">
            <a:spAutoFit/>
          </a:bodyPr>
          <a:lstStyle/>
          <a:p>
            <a:pPr algn="l">
              <a:lnSpc>
                <a:spcPct val="135000"/>
              </a:lnSpc>
            </a:pPr>
            <a:r>
              <a:rPr sz="1100" b="0" i="1">
                <a:solidFill>
                  <a:srgbClr val="2B2B2B"/>
                </a:solidFill>
                <a:latin typeface="Inter"/>
              </a:rPr>
              <a:t>[BIO PLACEHOLDER — prior CPG-adjacent operating role at FOD; deep familiarity with the contract manufacturing landscape; full-stack founder shipping every layer of the V1 platform himself.]</a:t>
            </a:r>
          </a:p>
        </p:txBody>
      </p:sp>
      <p:sp>
        <p:nvSpPr>
          <p:cNvPr id="13" name="Rounded Rectangle 12"/>
          <p:cNvSpPr/>
          <p:nvPr/>
        </p:nvSpPr>
        <p:spPr>
          <a:xfrm>
            <a:off x="6263640" y="3383280"/>
            <a:ext cx="5349240" cy="2926080"/>
          </a:xfrm>
          <a:prstGeom prst="roundRect">
            <a:avLst/>
          </a:prstGeom>
          <a:solidFill>
            <a:srgbClr val="FFFFFF"/>
          </a:solidFill>
          <a:ln w="9525">
            <a:solidFill>
              <a:srgbClr val="C9C4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37960" y="3611880"/>
            <a:ext cx="1828800" cy="274320"/>
          </a:xfrm>
          <a:prstGeom prst="rect">
            <a:avLst/>
          </a:prstGeom>
          <a:noFill/>
        </p:spPr>
        <p:txBody>
          <a:bodyPr wrap="square" lIns="0" rIns="0" tIns="0" bIns="0" anchor="t">
            <a:spAutoFit/>
          </a:bodyPr>
          <a:lstStyle/>
          <a:p>
            <a:pPr algn="l">
              <a:lnSpc>
                <a:spcPct val="115000"/>
              </a:lnSpc>
            </a:pPr>
            <a:r>
              <a:rPr sz="1000" b="1" i="0">
                <a:solidFill>
                  <a:srgbClr val="FF2E63"/>
                </a:solidFill>
                <a:latin typeface="Bricolage Grotesque"/>
              </a:rPr>
              <a:t>STACK</a:t>
            </a:r>
          </a:p>
        </p:txBody>
      </p:sp>
      <p:sp>
        <p:nvSpPr>
          <p:cNvPr id="15" name="TextBox 14"/>
          <p:cNvSpPr txBox="1"/>
          <p:nvPr/>
        </p:nvSpPr>
        <p:spPr>
          <a:xfrm>
            <a:off x="6537960" y="3886200"/>
            <a:ext cx="4800600" cy="1005840"/>
          </a:xfrm>
          <a:prstGeom prst="rect">
            <a:avLst/>
          </a:prstGeom>
          <a:noFill/>
        </p:spPr>
        <p:txBody>
          <a:bodyPr wrap="square" lIns="0" rIns="0" tIns="0" bIns="0" anchor="t">
            <a:spAutoFit/>
          </a:bodyPr>
          <a:lstStyle/>
          <a:p>
            <a:pPr algn="l">
              <a:lnSpc>
                <a:spcPct val="135000"/>
              </a:lnSpc>
            </a:pPr>
            <a:r>
              <a:rPr sz="1150" b="0" i="0">
                <a:solidFill>
                  <a:srgbClr val="2B2B2B"/>
                </a:solidFill>
                <a:latin typeface="Inter"/>
              </a:rPr>
              <a:t>Next.js 15 · React 19 · TypeScript strict · CockroachDB Serverless · Prisma · Stripe Connect · Cloudflare R2 · Fabric.js · Auth.js v5 · Resend.</a:t>
            </a:r>
          </a:p>
        </p:txBody>
      </p:sp>
      <p:sp>
        <p:nvSpPr>
          <p:cNvPr id="16" name="TextBox 15"/>
          <p:cNvSpPr txBox="1"/>
          <p:nvPr/>
        </p:nvSpPr>
        <p:spPr>
          <a:xfrm>
            <a:off x="6537960" y="4983480"/>
            <a:ext cx="3657600" cy="274320"/>
          </a:xfrm>
          <a:prstGeom prst="rect">
            <a:avLst/>
          </a:prstGeom>
          <a:noFill/>
        </p:spPr>
        <p:txBody>
          <a:bodyPr wrap="square" lIns="0" rIns="0" tIns="0" bIns="0" anchor="t">
            <a:spAutoFit/>
          </a:bodyPr>
          <a:lstStyle/>
          <a:p>
            <a:pPr algn="l">
              <a:lnSpc>
                <a:spcPct val="115000"/>
              </a:lnSpc>
            </a:pPr>
            <a:r>
              <a:rPr sz="1000" b="1" i="0">
                <a:solidFill>
                  <a:srgbClr val="FF2E63"/>
                </a:solidFill>
                <a:latin typeface="Bricolage Grotesque"/>
              </a:rPr>
              <a:t>HIRING WITH THIS ROUND</a:t>
            </a:r>
          </a:p>
        </p:txBody>
      </p:sp>
      <p:sp>
        <p:nvSpPr>
          <p:cNvPr id="17" name="Oval 16"/>
          <p:cNvSpPr/>
          <p:nvPr/>
        </p:nvSpPr>
        <p:spPr>
          <a:xfrm>
            <a:off x="6537960" y="5394960"/>
            <a:ext cx="109728" cy="109728"/>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766560" y="5303520"/>
            <a:ext cx="4572000" cy="320040"/>
          </a:xfrm>
          <a:prstGeom prst="rect">
            <a:avLst/>
          </a:prstGeom>
          <a:noFill/>
        </p:spPr>
        <p:txBody>
          <a:bodyPr wrap="square" lIns="0" rIns="0" tIns="0" bIns="0" anchor="t">
            <a:spAutoFit/>
          </a:bodyPr>
          <a:lstStyle/>
          <a:p>
            <a:pPr algn="l">
              <a:lnSpc>
                <a:spcPct val="115000"/>
              </a:lnSpc>
            </a:pPr>
            <a:r>
              <a:rPr sz="1150" b="0" i="0">
                <a:solidFill>
                  <a:srgbClr val="2B2B2B"/>
                </a:solidFill>
                <a:latin typeface="Inter"/>
              </a:rPr>
              <a:t>Senior product engineer (full-stack)</a:t>
            </a:r>
          </a:p>
        </p:txBody>
      </p:sp>
      <p:sp>
        <p:nvSpPr>
          <p:cNvPr id="19" name="Oval 18"/>
          <p:cNvSpPr/>
          <p:nvPr/>
        </p:nvSpPr>
        <p:spPr>
          <a:xfrm>
            <a:off x="6537960" y="5687568"/>
            <a:ext cx="109728" cy="109728"/>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66560" y="5596128"/>
            <a:ext cx="4572000" cy="320040"/>
          </a:xfrm>
          <a:prstGeom prst="rect">
            <a:avLst/>
          </a:prstGeom>
          <a:noFill/>
        </p:spPr>
        <p:txBody>
          <a:bodyPr wrap="square" lIns="0" rIns="0" tIns="0" bIns="0" anchor="t">
            <a:spAutoFit/>
          </a:bodyPr>
          <a:lstStyle/>
          <a:p>
            <a:pPr algn="l">
              <a:lnSpc>
                <a:spcPct val="115000"/>
              </a:lnSpc>
            </a:pPr>
            <a:r>
              <a:rPr sz="1150" b="0" i="0">
                <a:solidFill>
                  <a:srgbClr val="2B2B2B"/>
                </a:solidFill>
                <a:latin typeface="Inter"/>
              </a:rPr>
              <a:t>Partner ops manager (CPG manufacturing)</a:t>
            </a:r>
          </a:p>
        </p:txBody>
      </p:sp>
      <p:sp>
        <p:nvSpPr>
          <p:cNvPr id="21" name="Oval 20"/>
          <p:cNvSpPr/>
          <p:nvPr/>
        </p:nvSpPr>
        <p:spPr>
          <a:xfrm>
            <a:off x="6537960" y="5980176"/>
            <a:ext cx="109728" cy="109728"/>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766560" y="5888736"/>
            <a:ext cx="4572000" cy="320040"/>
          </a:xfrm>
          <a:prstGeom prst="rect">
            <a:avLst/>
          </a:prstGeom>
          <a:noFill/>
        </p:spPr>
        <p:txBody>
          <a:bodyPr wrap="square" lIns="0" rIns="0" tIns="0" bIns="0" anchor="t">
            <a:spAutoFit/>
          </a:bodyPr>
          <a:lstStyle/>
          <a:p>
            <a:pPr algn="l">
              <a:lnSpc>
                <a:spcPct val="115000"/>
              </a:lnSpc>
            </a:pPr>
            <a:r>
              <a:rPr sz="1150" b="0" i="0">
                <a:solidFill>
                  <a:srgbClr val="2B2B2B"/>
                </a:solidFill>
                <a:latin typeface="Inter"/>
              </a:rPr>
              <a:t>Product / brand designer</a:t>
            </a:r>
          </a:p>
        </p:txBody>
      </p:sp>
      <p:sp>
        <p:nvSpPr>
          <p:cNvPr id="23" name="TextBox 22"/>
          <p:cNvSpPr txBox="1"/>
          <p:nvPr/>
        </p:nvSpPr>
        <p:spPr>
          <a:xfrm>
            <a:off x="640080" y="6355080"/>
            <a:ext cx="10972800" cy="365760"/>
          </a:xfrm>
          <a:prstGeom prst="rect">
            <a:avLst/>
          </a:prstGeom>
          <a:noFill/>
        </p:spPr>
        <p:txBody>
          <a:bodyPr wrap="square" lIns="0" rIns="0" tIns="0" bIns="0" anchor="t">
            <a:spAutoFit/>
          </a:bodyPr>
          <a:lstStyle/>
          <a:p>
            <a:pPr algn="l">
              <a:lnSpc>
                <a:spcPct val="120000"/>
              </a:lnSpc>
            </a:pPr>
            <a:r>
              <a:rPr sz="1300" b="0" i="1">
                <a:solidFill>
                  <a:srgbClr val="6B6B6B"/>
                </a:solidFill>
                <a:latin typeface="Fraunces"/>
              </a:rPr>
              <a:t>Architecture is locked. </a:t>
            </a:r>
            <a:r>
              <a:rPr sz="1300" b="1" i="0">
                <a:solidFill>
                  <a:srgbClr val="0A0A0A"/>
                </a:solidFill>
                <a:latin typeface="Inter"/>
              </a:rPr>
              <a:t>The team won't redesign the foundation — they'll compound on it.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640080" y="621792"/>
            <a:ext cx="164592" cy="164592"/>
          </a:xfrm>
          <a:prstGeom prst="ellipse">
            <a:avLst/>
          </a:prstGeom>
          <a:solidFill>
            <a:srgbClr val="B5FF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96112" y="457200"/>
            <a:ext cx="2286000" cy="457200"/>
          </a:xfrm>
          <a:prstGeom prst="rect">
            <a:avLst/>
          </a:prstGeom>
          <a:noFill/>
        </p:spPr>
        <p:txBody>
          <a:bodyPr wrap="square" lIns="0" rIns="0" tIns="0" bIns="0" anchor="t">
            <a:spAutoFit/>
          </a:bodyPr>
          <a:lstStyle/>
          <a:p>
            <a:pPr algn="l">
              <a:lnSpc>
                <a:spcPct val="115000"/>
              </a:lnSpc>
            </a:pPr>
            <a:r>
              <a:rPr sz="2000" b="1" i="0">
                <a:solidFill>
                  <a:srgbClr val="FFFFFF"/>
                </a:solidFill>
                <a:latin typeface="Bricolage Grotesque"/>
              </a:rPr>
              <a:t>iLaunchify</a:t>
            </a:r>
          </a:p>
        </p:txBody>
      </p:sp>
      <p:sp>
        <p:nvSpPr>
          <p:cNvPr id="5" name="Rounded Rectangle 4"/>
          <p:cNvSpPr/>
          <p:nvPr/>
        </p:nvSpPr>
        <p:spPr>
          <a:xfrm>
            <a:off x="640080" y="1097280"/>
            <a:ext cx="1280160" cy="329184"/>
          </a:xfrm>
          <a:prstGeom prst="roundRect">
            <a:avLst>
              <a:gd name="adj" fmla="val 50000"/>
            </a:avLst>
          </a:prstGeom>
          <a:solidFill>
            <a:srgbClr val="B5FF3D"/>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rIns="164592" tIns="36576" bIns="36576" wrap="none"/>
          <a:lstStyle/>
          <a:p>
            <a:pPr algn="ctr"/>
            <a:r>
              <a:rPr sz="1000" b="1">
                <a:solidFill>
                  <a:srgbClr val="0A0A0A"/>
                </a:solidFill>
                <a:latin typeface="Inter"/>
              </a:rPr>
              <a:t>11 · THE ASK</a:t>
            </a:r>
          </a:p>
        </p:txBody>
      </p:sp>
      <p:sp>
        <p:nvSpPr>
          <p:cNvPr id="6" name="TextBox 5"/>
          <p:cNvSpPr txBox="1"/>
          <p:nvPr/>
        </p:nvSpPr>
        <p:spPr>
          <a:xfrm>
            <a:off x="640080" y="1600200"/>
            <a:ext cx="10972800" cy="1645920"/>
          </a:xfrm>
          <a:prstGeom prst="rect">
            <a:avLst/>
          </a:prstGeom>
          <a:noFill/>
        </p:spPr>
        <p:txBody>
          <a:bodyPr wrap="square" lIns="0" rIns="0" tIns="0" bIns="0" anchor="t">
            <a:spAutoFit/>
          </a:bodyPr>
          <a:lstStyle/>
          <a:p>
            <a:pPr algn="l">
              <a:lnSpc>
                <a:spcPct val="105000"/>
              </a:lnSpc>
            </a:pPr>
            <a:r>
              <a:rPr sz="4000" b="1" i="0">
                <a:solidFill>
                  <a:srgbClr val="FFFFFF"/>
                </a:solidFill>
                <a:latin typeface="Bricolage Grotesque"/>
              </a:rPr>
              <a:t>We're raising </a:t>
            </a:r>
            <a:r>
              <a:rPr sz="4000" b="1" i="0">
                <a:solidFill>
                  <a:srgbClr val="B5FF3D"/>
                </a:solidFill>
                <a:latin typeface="Bricolage Grotesque"/>
              </a:rPr>
              <a:t>[$X.X M]</a:t>
            </a:r>
            <a:r>
              <a:rPr sz="4000" b="1" i="0">
                <a:solidFill>
                  <a:srgbClr val="FFFFFF"/>
                </a:solidFill>
                <a:latin typeface="Bricolage Grotesque"/>
              </a:rPr>
              <a:t>
seed.</a:t>
            </a:r>
          </a:p>
        </p:txBody>
      </p:sp>
      <p:sp>
        <p:nvSpPr>
          <p:cNvPr id="7" name="TextBox 6"/>
          <p:cNvSpPr txBox="1"/>
          <p:nvPr/>
        </p:nvSpPr>
        <p:spPr>
          <a:xfrm>
            <a:off x="640080" y="3108960"/>
            <a:ext cx="3657600" cy="365760"/>
          </a:xfrm>
          <a:prstGeom prst="rect">
            <a:avLst/>
          </a:prstGeom>
          <a:noFill/>
        </p:spPr>
        <p:txBody>
          <a:bodyPr wrap="square" lIns="0" rIns="0" tIns="0" bIns="0" anchor="t">
            <a:spAutoFit/>
          </a:bodyPr>
          <a:lstStyle/>
          <a:p>
            <a:pPr algn="l">
              <a:lnSpc>
                <a:spcPct val="115000"/>
              </a:lnSpc>
            </a:pPr>
            <a:r>
              <a:rPr sz="1200" b="1" i="0">
                <a:solidFill>
                  <a:srgbClr val="B5FF3D"/>
                </a:solidFill>
                <a:latin typeface="Bricolage Grotesque"/>
              </a:rPr>
              <a:t>Use of funds</a:t>
            </a:r>
          </a:p>
        </p:txBody>
      </p:sp>
      <p:sp>
        <p:nvSpPr>
          <p:cNvPr id="8" name="Rounded Rectangle 7"/>
          <p:cNvSpPr/>
          <p:nvPr/>
        </p:nvSpPr>
        <p:spPr>
          <a:xfrm>
            <a:off x="640080" y="3685032"/>
            <a:ext cx="5943600" cy="164592"/>
          </a:xfrm>
          <a:prstGeom prst="round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40080" y="3685032"/>
            <a:ext cx="2971800" cy="164592"/>
          </a:xfrm>
          <a:prstGeom prst="roundRect">
            <a:avLst/>
          </a:prstGeom>
          <a:solidFill>
            <a:srgbClr val="B5FF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20840" y="3611880"/>
            <a:ext cx="640080" cy="320040"/>
          </a:xfrm>
          <a:prstGeom prst="rect">
            <a:avLst/>
          </a:prstGeom>
          <a:noFill/>
        </p:spPr>
        <p:txBody>
          <a:bodyPr wrap="square" lIns="0" rIns="0" tIns="0" bIns="0" anchor="t">
            <a:spAutoFit/>
          </a:bodyPr>
          <a:lstStyle/>
          <a:p>
            <a:pPr algn="l">
              <a:lnSpc>
                <a:spcPct val="115000"/>
              </a:lnSpc>
            </a:pPr>
            <a:r>
              <a:rPr sz="1200" b="1" i="0">
                <a:solidFill>
                  <a:srgbClr val="FFFFFF"/>
                </a:solidFill>
                <a:latin typeface="Bricolage Grotesque"/>
              </a:rPr>
              <a:t>50%</a:t>
            </a:r>
          </a:p>
        </p:txBody>
      </p:sp>
      <p:sp>
        <p:nvSpPr>
          <p:cNvPr id="11" name="TextBox 10"/>
          <p:cNvSpPr txBox="1"/>
          <p:nvPr/>
        </p:nvSpPr>
        <p:spPr>
          <a:xfrm>
            <a:off x="640080" y="3474720"/>
            <a:ext cx="5943600" cy="274320"/>
          </a:xfrm>
          <a:prstGeom prst="rect">
            <a:avLst/>
          </a:prstGeom>
          <a:noFill/>
        </p:spPr>
        <p:txBody>
          <a:bodyPr wrap="square" lIns="0" rIns="0" tIns="0" bIns="0" anchor="t">
            <a:spAutoFit/>
          </a:bodyPr>
          <a:lstStyle/>
          <a:p>
            <a:pPr algn="l">
              <a:lnSpc>
                <a:spcPct val="115000"/>
              </a:lnSpc>
            </a:pPr>
            <a:r>
              <a:rPr sz="1100" b="0" i="0">
                <a:solidFill>
                  <a:srgbClr val="D0D0D0"/>
                </a:solidFill>
                <a:latin typeface="Inter"/>
              </a:rPr>
              <a:t>Engineering · 2 hires + infra hardening</a:t>
            </a:r>
          </a:p>
        </p:txBody>
      </p:sp>
      <p:sp>
        <p:nvSpPr>
          <p:cNvPr id="12" name="Rounded Rectangle 11"/>
          <p:cNvSpPr/>
          <p:nvPr/>
        </p:nvSpPr>
        <p:spPr>
          <a:xfrm>
            <a:off x="640080" y="4187952"/>
            <a:ext cx="5943600" cy="164592"/>
          </a:xfrm>
          <a:prstGeom prst="round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40080" y="4187952"/>
            <a:ext cx="1485900" cy="164592"/>
          </a:xfrm>
          <a:prstGeom prst="roundRect">
            <a:avLst/>
          </a:prstGeom>
          <a:solidFill>
            <a:srgbClr val="FF2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20840" y="4114800"/>
            <a:ext cx="640080" cy="320040"/>
          </a:xfrm>
          <a:prstGeom prst="rect">
            <a:avLst/>
          </a:prstGeom>
          <a:noFill/>
        </p:spPr>
        <p:txBody>
          <a:bodyPr wrap="square" lIns="0" rIns="0" tIns="0" bIns="0" anchor="t">
            <a:spAutoFit/>
          </a:bodyPr>
          <a:lstStyle/>
          <a:p>
            <a:pPr algn="l">
              <a:lnSpc>
                <a:spcPct val="115000"/>
              </a:lnSpc>
            </a:pPr>
            <a:r>
              <a:rPr sz="1200" b="1" i="0">
                <a:solidFill>
                  <a:srgbClr val="FFFFFF"/>
                </a:solidFill>
                <a:latin typeface="Bricolage Grotesque"/>
              </a:rPr>
              <a:t>25%</a:t>
            </a:r>
          </a:p>
        </p:txBody>
      </p:sp>
      <p:sp>
        <p:nvSpPr>
          <p:cNvPr id="15" name="TextBox 14"/>
          <p:cNvSpPr txBox="1"/>
          <p:nvPr/>
        </p:nvSpPr>
        <p:spPr>
          <a:xfrm>
            <a:off x="640080" y="3977640"/>
            <a:ext cx="5943600" cy="274320"/>
          </a:xfrm>
          <a:prstGeom prst="rect">
            <a:avLst/>
          </a:prstGeom>
          <a:noFill/>
        </p:spPr>
        <p:txBody>
          <a:bodyPr wrap="square" lIns="0" rIns="0" tIns="0" bIns="0" anchor="t">
            <a:spAutoFit/>
          </a:bodyPr>
          <a:lstStyle/>
          <a:p>
            <a:pPr algn="l">
              <a:lnSpc>
                <a:spcPct val="115000"/>
              </a:lnSpc>
            </a:pPr>
            <a:r>
              <a:rPr sz="1100" b="0" i="0">
                <a:solidFill>
                  <a:srgbClr val="D0D0D0"/>
                </a:solidFill>
                <a:latin typeface="Inter"/>
              </a:rPr>
              <a:t>Partner network expansion (4 service types, top 3 markets)</a:t>
            </a:r>
          </a:p>
        </p:txBody>
      </p:sp>
      <p:sp>
        <p:nvSpPr>
          <p:cNvPr id="16" name="Rounded Rectangle 15"/>
          <p:cNvSpPr/>
          <p:nvPr/>
        </p:nvSpPr>
        <p:spPr>
          <a:xfrm>
            <a:off x="640080" y="4690872"/>
            <a:ext cx="5943600" cy="164592"/>
          </a:xfrm>
          <a:prstGeom prst="round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40080" y="4690872"/>
            <a:ext cx="891540" cy="164592"/>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720840" y="4617720"/>
            <a:ext cx="640080" cy="320040"/>
          </a:xfrm>
          <a:prstGeom prst="rect">
            <a:avLst/>
          </a:prstGeom>
          <a:noFill/>
        </p:spPr>
        <p:txBody>
          <a:bodyPr wrap="square" lIns="0" rIns="0" tIns="0" bIns="0" anchor="t">
            <a:spAutoFit/>
          </a:bodyPr>
          <a:lstStyle/>
          <a:p>
            <a:pPr algn="l">
              <a:lnSpc>
                <a:spcPct val="115000"/>
              </a:lnSpc>
            </a:pPr>
            <a:r>
              <a:rPr sz="1200" b="1" i="0">
                <a:solidFill>
                  <a:srgbClr val="FFFFFF"/>
                </a:solidFill>
                <a:latin typeface="Bricolage Grotesque"/>
              </a:rPr>
              <a:t>15%</a:t>
            </a:r>
          </a:p>
        </p:txBody>
      </p:sp>
      <p:sp>
        <p:nvSpPr>
          <p:cNvPr id="19" name="TextBox 18"/>
          <p:cNvSpPr txBox="1"/>
          <p:nvPr/>
        </p:nvSpPr>
        <p:spPr>
          <a:xfrm>
            <a:off x="640080" y="4480560"/>
            <a:ext cx="5943600" cy="274320"/>
          </a:xfrm>
          <a:prstGeom prst="rect">
            <a:avLst/>
          </a:prstGeom>
          <a:noFill/>
        </p:spPr>
        <p:txBody>
          <a:bodyPr wrap="square" lIns="0" rIns="0" tIns="0" bIns="0" anchor="t">
            <a:spAutoFit/>
          </a:bodyPr>
          <a:lstStyle/>
          <a:p>
            <a:pPr algn="l">
              <a:lnSpc>
                <a:spcPct val="115000"/>
              </a:lnSpc>
            </a:pPr>
            <a:r>
              <a:rPr sz="1100" b="0" i="0">
                <a:solidFill>
                  <a:srgbClr val="D0D0D0"/>
                </a:solidFill>
                <a:latin typeface="Inter"/>
              </a:rPr>
              <a:t>Creator acquisition + brand</a:t>
            </a:r>
          </a:p>
        </p:txBody>
      </p:sp>
      <p:sp>
        <p:nvSpPr>
          <p:cNvPr id="20" name="Rounded Rectangle 19"/>
          <p:cNvSpPr/>
          <p:nvPr/>
        </p:nvSpPr>
        <p:spPr>
          <a:xfrm>
            <a:off x="640080" y="5193792"/>
            <a:ext cx="5943600" cy="164592"/>
          </a:xfrm>
          <a:prstGeom prst="round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40080" y="5193792"/>
            <a:ext cx="594360" cy="164592"/>
          </a:xfrm>
          <a:prstGeom prst="roundRect">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720840" y="5120640"/>
            <a:ext cx="640080" cy="320040"/>
          </a:xfrm>
          <a:prstGeom prst="rect">
            <a:avLst/>
          </a:prstGeom>
          <a:noFill/>
        </p:spPr>
        <p:txBody>
          <a:bodyPr wrap="square" lIns="0" rIns="0" tIns="0" bIns="0" anchor="t">
            <a:spAutoFit/>
          </a:bodyPr>
          <a:lstStyle/>
          <a:p>
            <a:pPr algn="l">
              <a:lnSpc>
                <a:spcPct val="115000"/>
              </a:lnSpc>
            </a:pPr>
            <a:r>
              <a:rPr sz="1200" b="1" i="0">
                <a:solidFill>
                  <a:srgbClr val="FFFFFF"/>
                </a:solidFill>
                <a:latin typeface="Bricolage Grotesque"/>
              </a:rPr>
              <a:t>10%</a:t>
            </a:r>
          </a:p>
        </p:txBody>
      </p:sp>
      <p:sp>
        <p:nvSpPr>
          <p:cNvPr id="23" name="TextBox 22"/>
          <p:cNvSpPr txBox="1"/>
          <p:nvPr/>
        </p:nvSpPr>
        <p:spPr>
          <a:xfrm>
            <a:off x="640080" y="4983480"/>
            <a:ext cx="5943600" cy="274320"/>
          </a:xfrm>
          <a:prstGeom prst="rect">
            <a:avLst/>
          </a:prstGeom>
          <a:noFill/>
        </p:spPr>
        <p:txBody>
          <a:bodyPr wrap="square" lIns="0" rIns="0" tIns="0" bIns="0" anchor="t">
            <a:spAutoFit/>
          </a:bodyPr>
          <a:lstStyle/>
          <a:p>
            <a:pPr algn="l">
              <a:lnSpc>
                <a:spcPct val="115000"/>
              </a:lnSpc>
            </a:pPr>
            <a:r>
              <a:rPr sz="1100" b="0" i="0">
                <a:solidFill>
                  <a:srgbClr val="D0D0D0"/>
                </a:solidFill>
                <a:latin typeface="Inter"/>
              </a:rPr>
              <a:t>Legal · compliance counsel · admin</a:t>
            </a:r>
          </a:p>
        </p:txBody>
      </p:sp>
      <p:sp>
        <p:nvSpPr>
          <p:cNvPr id="24" name="Rounded Rectangle 23"/>
          <p:cNvSpPr/>
          <p:nvPr/>
        </p:nvSpPr>
        <p:spPr>
          <a:xfrm>
            <a:off x="7406640" y="3108960"/>
            <a:ext cx="4206240" cy="3291840"/>
          </a:xfrm>
          <a:prstGeom prst="roundRect">
            <a:avLst/>
          </a:prstGeom>
          <a:solidFill>
            <a:srgbClr val="161616"/>
          </a:solidFill>
          <a:ln w="6350">
            <a:solidFill>
              <a:srgbClr val="2A2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680960" y="3337560"/>
            <a:ext cx="3657600" cy="365760"/>
          </a:xfrm>
          <a:prstGeom prst="rect">
            <a:avLst/>
          </a:prstGeom>
          <a:noFill/>
        </p:spPr>
        <p:txBody>
          <a:bodyPr wrap="square" lIns="0" rIns="0" tIns="0" bIns="0" anchor="t">
            <a:spAutoFit/>
          </a:bodyPr>
          <a:lstStyle/>
          <a:p>
            <a:pPr algn="l">
              <a:lnSpc>
                <a:spcPct val="115000"/>
              </a:lnSpc>
            </a:pPr>
            <a:r>
              <a:rPr sz="1100" b="1" i="0">
                <a:solidFill>
                  <a:srgbClr val="B5FF3D"/>
                </a:solidFill>
                <a:latin typeface="Bricolage Grotesque"/>
              </a:rPr>
              <a:t>18-MONTH MILESTONES</a:t>
            </a:r>
          </a:p>
        </p:txBody>
      </p:sp>
      <p:sp>
        <p:nvSpPr>
          <p:cNvPr id="26" name="Rounded Rectangle 25"/>
          <p:cNvSpPr/>
          <p:nvPr/>
        </p:nvSpPr>
        <p:spPr>
          <a:xfrm>
            <a:off x="7680960" y="3886200"/>
            <a:ext cx="594360" cy="365760"/>
          </a:xfrm>
          <a:prstGeom prst="roundRect">
            <a:avLst/>
          </a:prstGeom>
          <a:solidFill>
            <a:srgbClr val="B5FF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680960" y="3886200"/>
            <a:ext cx="594360" cy="365760"/>
          </a:xfrm>
          <a:prstGeom prst="rect">
            <a:avLst/>
          </a:prstGeom>
          <a:noFill/>
        </p:spPr>
        <p:txBody>
          <a:bodyPr wrap="square" lIns="0" rIns="0" tIns="0" bIns="0" anchor="ctr">
            <a:spAutoFit/>
          </a:bodyPr>
          <a:lstStyle/>
          <a:p>
            <a:pPr algn="ctr">
              <a:lnSpc>
                <a:spcPct val="115000"/>
              </a:lnSpc>
            </a:pPr>
            <a:r>
              <a:rPr sz="1100" b="1" i="0">
                <a:solidFill>
                  <a:srgbClr val="0A0A0A"/>
                </a:solidFill>
                <a:latin typeface="Bricolage Grotesque"/>
              </a:rPr>
              <a:t>M3</a:t>
            </a:r>
          </a:p>
        </p:txBody>
      </p:sp>
      <p:sp>
        <p:nvSpPr>
          <p:cNvPr id="28" name="TextBox 27"/>
          <p:cNvSpPr txBox="1"/>
          <p:nvPr/>
        </p:nvSpPr>
        <p:spPr>
          <a:xfrm>
            <a:off x="8366760" y="3867912"/>
            <a:ext cx="2971800" cy="502920"/>
          </a:xfrm>
          <a:prstGeom prst="rect">
            <a:avLst/>
          </a:prstGeom>
          <a:noFill/>
        </p:spPr>
        <p:txBody>
          <a:bodyPr wrap="square" lIns="0" rIns="0" tIns="0" bIns="0" anchor="t">
            <a:spAutoFit/>
          </a:bodyPr>
          <a:lstStyle/>
          <a:p>
            <a:pPr algn="l">
              <a:lnSpc>
                <a:spcPct val="130000"/>
              </a:lnSpc>
            </a:pPr>
            <a:r>
              <a:rPr sz="1100" b="0" i="0">
                <a:solidFill>
                  <a:srgbClr val="FFFFFF"/>
                </a:solidFill>
                <a:latin typeface="Inter"/>
              </a:rPr>
              <a:t>Beta closes with documented transaction data + first case studies</a:t>
            </a:r>
          </a:p>
        </p:txBody>
      </p:sp>
      <p:sp>
        <p:nvSpPr>
          <p:cNvPr id="29" name="Rounded Rectangle 28"/>
          <p:cNvSpPr/>
          <p:nvPr/>
        </p:nvSpPr>
        <p:spPr>
          <a:xfrm>
            <a:off x="7680960" y="4480560"/>
            <a:ext cx="594360" cy="365760"/>
          </a:xfrm>
          <a:prstGeom prst="roundRect">
            <a:avLst/>
          </a:prstGeom>
          <a:solidFill>
            <a:srgbClr val="B5FF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80960" y="4480560"/>
            <a:ext cx="594360" cy="365760"/>
          </a:xfrm>
          <a:prstGeom prst="rect">
            <a:avLst/>
          </a:prstGeom>
          <a:noFill/>
        </p:spPr>
        <p:txBody>
          <a:bodyPr wrap="square" lIns="0" rIns="0" tIns="0" bIns="0" anchor="ctr">
            <a:spAutoFit/>
          </a:bodyPr>
          <a:lstStyle/>
          <a:p>
            <a:pPr algn="ctr">
              <a:lnSpc>
                <a:spcPct val="115000"/>
              </a:lnSpc>
            </a:pPr>
            <a:r>
              <a:rPr sz="1100" b="1" i="0">
                <a:solidFill>
                  <a:srgbClr val="0A0A0A"/>
                </a:solidFill>
                <a:latin typeface="Bricolage Grotesque"/>
              </a:rPr>
              <a:t>M6</a:t>
            </a:r>
          </a:p>
        </p:txBody>
      </p:sp>
      <p:sp>
        <p:nvSpPr>
          <p:cNvPr id="31" name="TextBox 30"/>
          <p:cNvSpPr txBox="1"/>
          <p:nvPr/>
        </p:nvSpPr>
        <p:spPr>
          <a:xfrm>
            <a:off x="8366760" y="4462272"/>
            <a:ext cx="2971800" cy="502920"/>
          </a:xfrm>
          <a:prstGeom prst="rect">
            <a:avLst/>
          </a:prstGeom>
          <a:noFill/>
        </p:spPr>
        <p:txBody>
          <a:bodyPr wrap="square" lIns="0" rIns="0" tIns="0" bIns="0" anchor="t">
            <a:spAutoFit/>
          </a:bodyPr>
          <a:lstStyle/>
          <a:p>
            <a:pPr algn="l">
              <a:lnSpc>
                <a:spcPct val="130000"/>
              </a:lnSpc>
            </a:pPr>
            <a:r>
              <a:rPr sz="1100" b="0" i="0">
                <a:solidFill>
                  <a:srgbClr val="FFFFFF"/>
                </a:solidFill>
                <a:latin typeface="Inter"/>
              </a:rPr>
              <a:t>GA · 50 active creators · 20 active partners</a:t>
            </a:r>
          </a:p>
        </p:txBody>
      </p:sp>
      <p:sp>
        <p:nvSpPr>
          <p:cNvPr id="32" name="Rounded Rectangle 31"/>
          <p:cNvSpPr/>
          <p:nvPr/>
        </p:nvSpPr>
        <p:spPr>
          <a:xfrm>
            <a:off x="7680960" y="5074920"/>
            <a:ext cx="594360" cy="365760"/>
          </a:xfrm>
          <a:prstGeom prst="roundRect">
            <a:avLst/>
          </a:prstGeom>
          <a:solidFill>
            <a:srgbClr val="B5FF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680960" y="5074920"/>
            <a:ext cx="594360" cy="365760"/>
          </a:xfrm>
          <a:prstGeom prst="rect">
            <a:avLst/>
          </a:prstGeom>
          <a:noFill/>
        </p:spPr>
        <p:txBody>
          <a:bodyPr wrap="square" lIns="0" rIns="0" tIns="0" bIns="0" anchor="ctr">
            <a:spAutoFit/>
          </a:bodyPr>
          <a:lstStyle/>
          <a:p>
            <a:pPr algn="ctr">
              <a:lnSpc>
                <a:spcPct val="115000"/>
              </a:lnSpc>
            </a:pPr>
            <a:r>
              <a:rPr sz="1100" b="1" i="0">
                <a:solidFill>
                  <a:srgbClr val="0A0A0A"/>
                </a:solidFill>
                <a:latin typeface="Bricolage Grotesque"/>
              </a:rPr>
              <a:t>M12</a:t>
            </a:r>
          </a:p>
        </p:txBody>
      </p:sp>
      <p:sp>
        <p:nvSpPr>
          <p:cNvPr id="34" name="TextBox 33"/>
          <p:cNvSpPr txBox="1"/>
          <p:nvPr/>
        </p:nvSpPr>
        <p:spPr>
          <a:xfrm>
            <a:off x="8366760" y="5056632"/>
            <a:ext cx="2971800" cy="502920"/>
          </a:xfrm>
          <a:prstGeom prst="rect">
            <a:avLst/>
          </a:prstGeom>
          <a:noFill/>
        </p:spPr>
        <p:txBody>
          <a:bodyPr wrap="square" lIns="0" rIns="0" tIns="0" bIns="0" anchor="t">
            <a:spAutoFit/>
          </a:bodyPr>
          <a:lstStyle/>
          <a:p>
            <a:pPr algn="l">
              <a:lnSpc>
                <a:spcPct val="130000"/>
              </a:lnSpc>
            </a:pPr>
            <a:r>
              <a:rPr sz="1100" b="0" i="0">
                <a:solidFill>
                  <a:srgbClr val="FFFFFF"/>
                </a:solidFill>
                <a:latin typeface="Inter"/>
              </a:rPr>
              <a:t>$[VERIFY] M annualized GMV across the platform</a:t>
            </a:r>
          </a:p>
        </p:txBody>
      </p:sp>
      <p:sp>
        <p:nvSpPr>
          <p:cNvPr id="35" name="Rounded Rectangle 34"/>
          <p:cNvSpPr/>
          <p:nvPr/>
        </p:nvSpPr>
        <p:spPr>
          <a:xfrm>
            <a:off x="7680960" y="5669280"/>
            <a:ext cx="594360" cy="365760"/>
          </a:xfrm>
          <a:prstGeom prst="roundRect">
            <a:avLst/>
          </a:prstGeom>
          <a:solidFill>
            <a:srgbClr val="B5FF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80960" y="5669280"/>
            <a:ext cx="594360" cy="365760"/>
          </a:xfrm>
          <a:prstGeom prst="rect">
            <a:avLst/>
          </a:prstGeom>
          <a:noFill/>
        </p:spPr>
        <p:txBody>
          <a:bodyPr wrap="square" lIns="0" rIns="0" tIns="0" bIns="0" anchor="ctr">
            <a:spAutoFit/>
          </a:bodyPr>
          <a:lstStyle/>
          <a:p>
            <a:pPr algn="ctr">
              <a:lnSpc>
                <a:spcPct val="115000"/>
              </a:lnSpc>
            </a:pPr>
            <a:r>
              <a:rPr sz="1100" b="1" i="0">
                <a:solidFill>
                  <a:srgbClr val="0A0A0A"/>
                </a:solidFill>
                <a:latin typeface="Bricolage Grotesque"/>
              </a:rPr>
              <a:t>M18</a:t>
            </a:r>
          </a:p>
        </p:txBody>
      </p:sp>
      <p:sp>
        <p:nvSpPr>
          <p:cNvPr id="37" name="TextBox 36"/>
          <p:cNvSpPr txBox="1"/>
          <p:nvPr/>
        </p:nvSpPr>
        <p:spPr>
          <a:xfrm>
            <a:off x="8366760" y="5650992"/>
            <a:ext cx="2971800" cy="502920"/>
          </a:xfrm>
          <a:prstGeom prst="rect">
            <a:avLst/>
          </a:prstGeom>
          <a:noFill/>
        </p:spPr>
        <p:txBody>
          <a:bodyPr wrap="square" lIns="0" rIns="0" tIns="0" bIns="0" anchor="t">
            <a:spAutoFit/>
          </a:bodyPr>
          <a:lstStyle/>
          <a:p>
            <a:pPr algn="l">
              <a:lnSpc>
                <a:spcPct val="130000"/>
              </a:lnSpc>
            </a:pPr>
            <a:r>
              <a:rPr sz="1100" b="0" i="0">
                <a:solidFill>
                  <a:srgbClr val="FFFFFF"/>
                </a:solidFill>
                <a:latin typeface="Inter"/>
              </a:rPr>
              <a:t>Mode 1 → Mode 2 transition (pooled production live)</a:t>
            </a:r>
          </a:p>
        </p:txBody>
      </p:sp>
      <p:sp>
        <p:nvSpPr>
          <p:cNvPr id="38" name="TextBox 37"/>
          <p:cNvSpPr txBox="1"/>
          <p:nvPr/>
        </p:nvSpPr>
        <p:spPr>
          <a:xfrm>
            <a:off x="640080" y="6400800"/>
            <a:ext cx="10972800" cy="365760"/>
          </a:xfrm>
          <a:prstGeom prst="rect">
            <a:avLst/>
          </a:prstGeom>
          <a:noFill/>
        </p:spPr>
        <p:txBody>
          <a:bodyPr wrap="square" lIns="0" rIns="0" tIns="0" bIns="0" anchor="t">
            <a:spAutoFit/>
          </a:bodyPr>
          <a:lstStyle/>
          <a:p>
            <a:pPr algn="l">
              <a:lnSpc>
                <a:spcPct val="120000"/>
              </a:lnSpc>
            </a:pPr>
            <a:r>
              <a:rPr sz="1400" b="1" i="1">
                <a:solidFill>
                  <a:srgbClr val="B5FF3D"/>
                </a:solidFill>
                <a:latin typeface="Fraunces"/>
              </a:rPr>
              <a:t>Let's talk. </a:t>
            </a:r>
            <a:r>
              <a:rPr sz="1400" b="0" i="0">
                <a:solidFill>
                  <a:srgbClr val="FFFFFF"/>
                </a:solidFill>
                <a:latin typeface="Inter"/>
              </a:rPr>
              <a:t>georgiev.pavel@gmail.com  ·  ilaunchify.com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